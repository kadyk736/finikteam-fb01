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68" r:id="rId3"/>
    <p:sldId id="257" r:id="rId4"/>
    <p:sldId id="258" r:id="rId5"/>
    <p:sldId id="270" r:id="rId6"/>
    <p:sldId id="271" r:id="rId7"/>
    <p:sldId id="272" r:id="rId8"/>
    <p:sldId id="273" r:id="rId9"/>
    <p:sldId id="274" r:id="rId10"/>
    <p:sldId id="259" r:id="rId11"/>
    <p:sldId id="260" r:id="rId12"/>
    <p:sldId id="261" r:id="rId13"/>
    <p:sldId id="262" r:id="rId14"/>
    <p:sldId id="263" r:id="rId15"/>
    <p:sldId id="269" r:id="rId16"/>
    <p:sldId id="264" r:id="rId17"/>
    <p:sldId id="267" r:id="rId18"/>
    <p:sldId id="265" r:id="rId19"/>
    <p:sldId id="266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46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[0:00] Добрый день. Мы — команда Finik, и мы решали кейс FB01: ИИ-помощник нового клиента для Faberlic.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0B143-C1D5-B910-C8FE-966F6644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B3721-59C9-969D-1D50-8B1FF4FD2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875EF-4FFF-39C1-8F43-9CC1157B5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Ситуация знакомая: человек зарегистрировался после обучающего мероприятия — и на этом первый контакт обычно гаснет, наставник не успевает. Наш ответ — помощник первичного контакта: сам ведёт короткий диалог с новичком и передаёт наставнику заполненную карточку.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16461-FD89-CBFC-71F3-D8B1ED02953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7757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[0:25] Со стороны пользователя: клиент общается с ботом, бот уточняет цель и интересы, формирует карточку, наставник получает готовый результат и решает, что делать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Проблема не в том, что некому отвечать, а в том, что теряется первый контакт: нет времени и нет контекста. Мы не заменяем наставника — снимаем с него рутину первичного разговора.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[1:25] Границы честные: помощник не обещает доход, не даёт медицинских советов, не выдумывает акции. Сообщения — только черновики, автоотправка клиенту запрещена, финальное решение за человеком.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Технически: Python, aiogram 3, SQLite, локальная модель qwen2.5:7b через Ollama. Всё поднимается из репозитория командой из .env и python app.py, без облачных ключей.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[1:40] Демонстрация (bot_fullstack). Показываем: вход клиента → уточняющий диалог → извлечённая карточка с цитатой → черновик наставнику. Если живое не идёт — сразу резервное видео, без пауз.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[2:05] Красивое демо ничего не стоит без проверки. Собрали полный контур (aiogram+движок правил): 172 проверки, все прошли. Двенадцать тестов кейса закрыты. Линия LLM отдельно: qwen2.5 локально — 10/10 кейсов и 21/21 перефраз.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Эффект в цифре: разбор нового клиента с 40 минут ручной работы сокращается до 5 минут на готовую карточку. Это гипотеза, проверяем её на пилоте.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Всё в репозитории: код, документация, логи прогонов. Официальная сдача — на GitVerse до 25.09, 09:00. Запуск и тесты — командами на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[2:40] Предложение: готовы к пилоту с октября по март — три месяца разработки и недельный промышленный прогон в марте.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Критерий приёмки: не менее 85% карточек приняты без доработки, 12 из 12 тестов, 40 минут → 5 минут. Бюджет и состав работ — на слайде. Спасибо, готовы к вопросам. [2:55–3:00]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Границы решения по функциям: от загрузки события регистрации до доступа наставника к карточке. Это ровно те задачи, что заявлены в карте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Конкретно: загрузить событие, вести уточняющий диалог (цель, интересы, время), извлечь структурированные данные, сегментировать по цели, предложить следующий шаг, переспросить вне базы — и отдать наставнику карточку.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[1:05, говорим быстро] Про канал: в мессенджер MAX мы не встроились сознательно. Первый порог — организационный: верификация бизнеса и ручная модерация не укладываются в три дня чемпионата.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порог — дергающийся API: часть эндпоинтов удалена, правила меняются. Третий — нет экосистемы aiogram: диспетчер и конечный автомат состояний пришлось бы писать с нуля.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Весь разбор — в отдельном эссе, ссылка ниже. Важно другое: наш диалоговый механизм от канала не зависит и переносим в любой мессенджер.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[2:25, одной фразой] Делали вчетвером: продукт и архитектура, машинное обучение, DevOps, полный стек.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[слайд 17] Вот таблица проверок по каждому из 12 тестов: вход, ожидание, фактическая выдача, пройдено. Все двенадцать зелёные, включая пустой объект и повторную загрузку.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github.com/KaDyK736/FinikTeam-FB01/blob/main/docs/max-integration.md" TargetMode="External"/><Relationship Id="rId6" Type="http://schemas.openxmlformats.org/officeDocument/2006/relationships/notesSlide" Target="../notesSlides/notesSlide1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A3FA129-39DA-4A24-B5F8-F749F48E9BA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ИИ-помощник нового клиента Faberlic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A10FA9F-C173-46A7-B218-C4449E0E2D25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2AD9225-EFBD-4AE7-A664-63E2B01A1C8C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868DAF4-7509-4912-9534-04FF3EB9FD1B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E67CB4F-402D-48A4-8163-66EB0D803EB4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785A98C-BD32-4C63-9606-BEA5BA67446D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F41C6A7-2A36-4497-9339-1258F6CBAA09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Finik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· FB01 «ИИ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помощник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нового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клиента</a:t>
            </a:r>
            <a:r>
              <a:rPr sz="2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»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EB5C803-0548-4D2E-954D-D5A7F075474B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807B553-DE94-48AB-9575-B40E4136B7A1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ИП Самойленко А. С. (структура Faberlic) — держатель кейса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1A4D37F-0327-46CF-99CB-B75745AE443A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61F67-4D7B-452C-9DEB-934A87DEB5B5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23–25 сентября 2026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09A047E-3A03-4F2C-9CFB-B5EE1D997FC0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5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5EA"/>
                </a:solidFill>
                <a:latin typeface="Arial"/>
                <a:ea typeface="Arial"/>
                <a:cs typeface="Arial"/>
              </a:rPr>
              <a:t>Кейс-чемпионат «ИИ-агенты для бизнеса» · диалог → структурированная карточка → следующий шаг</a:t>
            </a:r>
          </a:p>
        </p:txBody>
      </p:sp>
    </p:spTree>
    <p:extLst>
      <p:ext uri="{BB962C8B-B14F-4D97-AF65-F5344CB8AC3E}">
        <p14:creationId xmlns:p14="http://schemas.microsoft.com/office/powerpoint/2010/main" val="382857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2510E-2472-95F5-8774-27E3ADA1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FA1EC85-582D-BA63-F2E1-55CFC6006F93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ИИ-помощник нового клиента Faberlic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D71FE58-F00E-CE2C-C3C6-BF2FD9AF189D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735FD82-A862-4B74-93BB-671F73768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2F4254-C90E-AECF-3C74-7ABA6F748088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55F15D0-F0E3-0969-6495-1992BD8C5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8B49C1A-6B16-1F80-8CFC-45EC0CF5EA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981E04E-08D6-7170-0EAC-5615C0BE14C0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7208BAE-E708-ED7F-506B-28BBD618DEB8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966134-7B5D-B03D-E345-64ED1B1F511D}"/>
              </a:ext>
            </a:extLst>
          </p:cNvPr>
          <p:cNvSpPr txBox="1"/>
          <p:nvPr/>
        </p:nvSpPr>
        <p:spPr>
          <a:xfrm>
            <a:off x="609600" y="1905000"/>
            <a:ext cx="10972800" cy="330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z="1600"/>
              <a:t>Faberlic AI Assistant — интеллектуальный помощник первичного контакта, который после учебного события регистрации самостоятельно проводит первый диалог с новым клиентом, выясняет его цель и интересы и передаёт наставнику заполненную карточку.
Главный результат — понятный первый шаг для клиента и сохранённый контекст для наставника.
Проект выполнен для кейс-чемпионата «ИИ-агенты для бизнеса» (23–25 сентября 2026), кейс FB01 «ИИ помощник нового клиента».</a:t>
            </a:r>
            <a:br>
              <a:rPr lang="ru-RU" dirty="0"/>
            </a:br>
            <a:br>
              <a:rPr lang="ru-RU" dirty="0"/>
            </a:br>
          </a:p>
        </p:txBody>
      </p:sp>
    </p:spTree>
    <p:extLst>
      <p:ext uri="{BB962C8B-B14F-4D97-AF65-F5344CB8AC3E}">
        <p14:creationId xmlns:p14="http://schemas.microsoft.com/office/powerpoint/2010/main" val="1663653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E7A68E6-2110-4916-AB73-A6390141DAB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UseCase</a:t>
            </a:r>
            <a:r>
              <a:rPr lang="en-US" sz="36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36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диаграмма</a:t>
            </a:r>
            <a:endParaRPr sz="3600" b="1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17D4908-23BA-4788-970C-36A685F3E5D1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72A87E-450C-4F00-B0BB-8767EC90AD6A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6B0FAF0-DE4A-41CA-8509-0AF617A194F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F6EABB-0B67-4B7C-96CF-4B1CE7A3C690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94E0EB-4CBE-4C19-9CEE-6F3D17B55C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2175" y="1195306"/>
            <a:ext cx="8017625" cy="457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75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6FB4003-5216-4D76-9246-B4FDACCA9DAE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Проблема и исходный уровень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A5927EA-9F24-43A9-9086-7A086598A7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1DBC29-4E42-4528-82EA-2982292B422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A7A0D4-EE9C-4537-85E2-1B646FACFFB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01A88B0-AD57-4B69-BEE5-A74DD8EF4DD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F0E5654-FC43-49CD-B1D3-B654F073835F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06A0E88-DD80-4C92-A19A-D749255DBA12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Сегодня: наставник вручную читает переписку, цель определяет «на глаз»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41F484-178D-45CE-9CC3-DCD5C59A01EC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181E381-D4E3-4E07-B7C3-D94B851E44B2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Потери: время на опрос, потеря контекста, дубли при повторной регистрации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C53084B-896C-42F3-BFCE-EE2E3312F71B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91D24E3-C41F-44EB-A640-02C98936CA68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Основание: учебные данные кейса (10 событий, диалоги, 12 проверок); замера времени нет — гипотеза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3C4CF12-E0A4-4457-86E5-814A34B395C7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CECBE19-36C0-4F72-B8D8-4096F9E5365C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Цель: 12/12 проверок tests.json, сегментация 10/10, ≥90% корректных полей карточки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CB2CFFB-64C9-4281-B86D-45A0D238ECD3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Числа эффекта — гипотеза; исходные данные подтверждает держатель процесса на пилоте.</a:t>
            </a:r>
          </a:p>
        </p:txBody>
      </p:sp>
    </p:spTree>
    <p:extLst>
      <p:ext uri="{BB962C8B-B14F-4D97-AF65-F5344CB8AC3E}">
        <p14:creationId xmlns:p14="http://schemas.microsoft.com/office/powerpoint/2010/main" val="585801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5CC747F-2B6B-23BE-47C1-D83510B5C85C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159000"/>
          <a:ext cx="10972800" cy="28670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253203182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1253203182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093498924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190210758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r>
                        <a:rPr sz="1000"/>
                        <a:t>Функциональная задача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входные данные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Оценка полноты входных данных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выходные данные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3574996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Загрузка события регистрации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registration_events.json (client_id, display_name, registered_at, source, initial_message, consent_to_demo)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полные; дубли и пустые client_id обрабатываются отдельно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карточка клиента открыта, диалог начат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165179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00"/>
                        <a:t>Уточняющий диалог (цель, интересы, время)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свободнотекстовые сообщения пользователя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часто неполные — требуется уточнение недостающего поля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полные ответы, внесённые в карточку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55296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000"/>
                        <a:t>LLM-извлечение структурированных данных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 dirty="0">
                          <a:effectLst/>
                        </a:rPr>
                        <a:t>вопрос + унифицированный ответ пользователя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зависит от провайдера (OpenRouter/Mistral/Ollama)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JSON-поля карточки + подтверждающая цитата (evidence)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507678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000"/>
                        <a:t>Сегментация по цели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явное намерение из ответов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неполные при двух целях без приоритета → unknown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segment: personal/income/business/unknown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4279372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00"/>
                        <a:t>Следующий шаг и вопросы вне базы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segment + knowledge_base.json (KB01–KB08)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>
                          <a:effectLst/>
                        </a:rPr>
                        <a:t>полные; вопросы вне базы по определению неполны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200" u="none" strike="noStrike" dirty="0" err="1">
                          <a:effectLst/>
                        </a:rPr>
                        <a:t>next_action</a:t>
                      </a:r>
                      <a:r>
                        <a:rPr lang="ru-RU" sz="1200" u="none" strike="noStrike" dirty="0">
                          <a:effectLst/>
                        </a:rPr>
                        <a:t> + черновик сообщения наставнику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3783493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622F58A-DD3F-0B5A-AA82-9C3ED20DFE6A}"/>
              </a:ext>
            </a:extLst>
          </p:cNvPr>
          <p:cNvSpPr txBox="1"/>
          <p:nvPr/>
        </p:nvSpPr>
        <p:spPr>
          <a:xfrm>
            <a:off x="609600" y="431800"/>
            <a:ext cx="10858500" cy="119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lang="ru-RU" sz="36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Решение и границы</a:t>
            </a:r>
          </a:p>
        </p:txBody>
      </p:sp>
      <p:sp>
        <p:nvSpPr>
          <p:cNvPr id="5" name="Прямоугольник 1">
            <a:extLst>
              <a:ext uri="{FF2B5EF4-FFF2-40B4-BE49-F238E27FC236}">
                <a16:creationId xmlns:a16="http://schemas.microsoft.com/office/drawing/2014/main" id="{0A5927EA-9F24-43A9-9086-7A086598A7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7" name="Прямоугольник 3">
            <a:extLst>
              <a:ext uri="{FF2B5EF4-FFF2-40B4-BE49-F238E27FC236}">
                <a16:creationId xmlns:a16="http://schemas.microsoft.com/office/drawing/2014/main" id="{7A1DBC29-4E42-4528-82EA-2982292B422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10" name="Прямоугольник 6">
            <a:extLst>
              <a:ext uri="{FF2B5EF4-FFF2-40B4-BE49-F238E27FC236}">
                <a16:creationId xmlns:a16="http://schemas.microsoft.com/office/drawing/2014/main" id="{41A7A0D4-EE9C-4537-85E2-1B646FACFFB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11" name="Прямоугольник 7">
            <a:extLst>
              <a:ext uri="{FF2B5EF4-FFF2-40B4-BE49-F238E27FC236}">
                <a16:creationId xmlns:a16="http://schemas.microsoft.com/office/drawing/2014/main" id="{501A88B0-AD57-4B69-BEE5-A74DD8EF4DD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559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D4CE0E84-1FFC-5D80-30EC-3398D11C7BAF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905000"/>
          <a:ext cx="109728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72800">
                  <a:extLst>
                    <a:ext uri="{9D8B030D-6E8A-4147-A177-3AD203B41FA5}">
                      <a16:colId xmlns:a16="http://schemas.microsoft.com/office/drawing/2014/main" val="366609626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  <a:latin typeface="Arial"/>
                        </a:rPr>
                        <a:t>Загрузка события регистрации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7152567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  <a:latin typeface="Arial"/>
                        </a:rPr>
                        <a:t>Уточняющий диалог (цель, интересы, время)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513975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  <a:latin typeface="Arial"/>
                        </a:rPr>
                        <a:t>LLM-извлечение структурированных данных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4555922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  <a:latin typeface="Arial"/>
                        </a:rPr>
                        <a:t>Сегментация по цели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8757869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>
                          <a:effectLst/>
                          <a:latin typeface="Arial"/>
                        </a:rPr>
                        <a:t>Следующий шаг и вопросы вне базы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9733498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600" u="none" strike="noStrike" dirty="0">
                          <a:effectLst/>
                          <a:latin typeface="Arial"/>
                        </a:rPr>
                        <a:t>Доступ наставника к карточке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011523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7731943-3F17-7AF9-39D7-A7BCFF806925}"/>
              </a:ext>
            </a:extLst>
          </p:cNvPr>
          <p:cNvSpPr txBox="1"/>
          <p:nvPr/>
        </p:nvSpPr>
        <p:spPr>
          <a:xfrm>
            <a:off x="609600" y="431800"/>
            <a:ext cx="10858500" cy="1193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z="3600" b="1">
                <a:solidFill>
                  <a:srgbClr val="052849"/>
                </a:solidFill>
                <a:latin typeface="Arial"/>
              </a:rPr>
              <a:t>Функциональные задачи проекта</a:t>
            </a:r>
          </a:p>
        </p:txBody>
      </p:sp>
      <p:sp>
        <p:nvSpPr>
          <p:cNvPr id="4" name="Прямоугольник 1">
            <a:extLst>
              <a:ext uri="{FF2B5EF4-FFF2-40B4-BE49-F238E27FC236}">
                <a16:creationId xmlns:a16="http://schemas.microsoft.com/office/drawing/2014/main" id="{0A5927EA-9F24-43A9-9086-7A086598A7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6" name="Прямоугольник 3">
            <a:extLst>
              <a:ext uri="{FF2B5EF4-FFF2-40B4-BE49-F238E27FC236}">
                <a16:creationId xmlns:a16="http://schemas.microsoft.com/office/drawing/2014/main" id="{7A1DBC29-4E42-4528-82EA-2982292B422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9" name="Прямоугольник 6">
            <a:extLst>
              <a:ext uri="{FF2B5EF4-FFF2-40B4-BE49-F238E27FC236}">
                <a16:creationId xmlns:a16="http://schemas.microsoft.com/office/drawing/2014/main" id="{41A7A0D4-EE9C-4537-85E2-1B646FACFFB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10" name="Прямоугольник 7">
            <a:extLst>
              <a:ext uri="{FF2B5EF4-FFF2-40B4-BE49-F238E27FC236}">
                <a16:creationId xmlns:a16="http://schemas.microsoft.com/office/drawing/2014/main" id="{501A88B0-AD57-4B69-BEE5-A74DD8EF4DD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34812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379735-D113-8389-F097-89808BC21ADA}"/>
              </a:ext>
            </a:extLst>
          </p:cNvPr>
          <p:cNvSpPr txBox="1"/>
          <p:nvPr/>
        </p:nvSpPr>
        <p:spPr>
          <a:xfrm>
            <a:off x="609600" y="431800"/>
            <a:ext cx="10858500" cy="1193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z="3600" b="1">
                <a:solidFill>
                  <a:srgbClr val="052849"/>
                </a:solidFill>
                <a:latin typeface="Arial"/>
              </a:rPr>
              <a:t>Пока не реализовано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8B0F12-C5F1-62F3-1B98-AD31D593C033}"/>
              </a:ext>
            </a:extLst>
          </p:cNvPr>
          <p:cNvSpPr txBox="1"/>
          <p:nvPr/>
        </p:nvSpPr>
        <p:spPr>
          <a:xfrm>
            <a:off x="609600" y="1778000"/>
            <a:ext cx="10972800" cy="419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z="1300"/>
              <a:t>Наш прототип живёт в </a:t>
            </a:r>
            <a:r>
              <a:rPr lang="ru-RU" dirty="0" err="1" sz="1300"/>
              <a:t>Telegram</a:t>
            </a:r>
            <a:r>
              <a:rPr lang="ru-RU" dirty="0" sz="1300"/>
              <a:t> — не из любви к нему, а по той прозаической причине, что за три дня чемпионата нужно было успеть показать живой диалог, а не его обещание. Держатель же кейса смотрит в другую сторону: ему нужна коммуникация с клиентами в MAX, молодом национальном мессенджере, который с осени 2025 года ставится на новые смартфоны и к марту 2026-го собрал больше восьми миллионов коммерческих аккаунтов. Со стороны может показаться, что перенести туда бота — дело одной вечерней пересборки: поменял адрес API, подправил пару импортов — и готово. На деле это отдельный проект, и труден он не кодом, а тем, что лежит вокруг кода: организационными порогами, незрелым интерфейсом, отсутствием привычных библиотек и чужими допущениями, которые в MAX устроены иначе, чем мы привыкли.</a:t>
            </a:r>
          </a:p>
        </p:txBody>
      </p:sp>
      <p:sp>
        <p:nvSpPr>
          <p:cNvPr id="4" name="Прямоугольник 1">
            <a:extLst>
              <a:ext uri="{FF2B5EF4-FFF2-40B4-BE49-F238E27FC236}">
                <a16:creationId xmlns:a16="http://schemas.microsoft.com/office/drawing/2014/main" id="{0A5927EA-9F24-43A9-9086-7A086598A7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6" name="Прямоугольник 3">
            <a:extLst>
              <a:ext uri="{FF2B5EF4-FFF2-40B4-BE49-F238E27FC236}">
                <a16:creationId xmlns:a16="http://schemas.microsoft.com/office/drawing/2014/main" id="{7A1DBC29-4E42-4528-82EA-2982292B422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9" name="Прямоугольник 6">
            <a:extLst>
              <a:ext uri="{FF2B5EF4-FFF2-40B4-BE49-F238E27FC236}">
                <a16:creationId xmlns:a16="http://schemas.microsoft.com/office/drawing/2014/main" id="{41A7A0D4-EE9C-4537-85E2-1B646FACFFB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10" name="Прямоугольник 7">
            <a:extLst>
              <a:ext uri="{FF2B5EF4-FFF2-40B4-BE49-F238E27FC236}">
                <a16:creationId xmlns:a16="http://schemas.microsoft.com/office/drawing/2014/main" id="{501A88B0-AD57-4B69-BEE5-A74DD8EF4DD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02658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AD329C-9D0F-CD8B-B6FA-C1BAD2B88233}"/>
              </a:ext>
            </a:extLst>
          </p:cNvPr>
          <p:cNvSpPr txBox="1"/>
          <p:nvPr/>
        </p:nvSpPr>
        <p:spPr>
          <a:xfrm>
            <a:off x="609600" y="431800"/>
            <a:ext cx="10858500" cy="1193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z="3600" b="1">
                <a:solidFill>
                  <a:srgbClr val="052849"/>
                </a:solidFill>
                <a:latin typeface="Arial"/>
              </a:rPr>
              <a:t>продолжение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80D9D6-A3C0-9790-DE12-8DA5BB69C198}"/>
              </a:ext>
            </a:extLst>
          </p:cNvPr>
          <p:cNvSpPr txBox="1"/>
          <p:nvPr/>
        </p:nvSpPr>
        <p:spPr>
          <a:xfrm>
            <a:off x="609600" y="1778000"/>
            <a:ext cx="10972800" cy="419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300"/>
              <a:t>Первый порог — и самый обидный — даже не технический. MAX не открывает дверь случайным: бизнес обязан зарегистрироваться в разделе для компаний и доказать, что он существует, — через уполномоченный банк, Госуслуги или реестры, а профиль бота кто-то живой проверяет вручную, до двух дней. Идентификатор бота, как печать на документе, обязан заканчиваться на `bot` или `_bot`. Для нас это значит неприятное: любой честный эксперимент с настоящим MAX упирается не в наш код, а в чужое юрлицо. У держателя кейса — ИП — оно есть; у студенческой команды его нет вовсе. Остаётся токен разработчика, а это другой набор прав, другое поведение платформы и совсем другая проверка гипотез.</a:t>
            </a:r>
          </a:p>
          <a:p>
            <a:r>
              <a:rPr lang="ru-RU" sz="1300"/>
              <a:t>Второй порог — сама платформа, которая пока перелицовывает собственное лицо, не спрашивая тех, кто уже строит под неё код. Ещё вчера работало — сегодня нет: с 30 сентября убрана готовая возможность массово добавлять участников в групповой чат, а с июня 2026 года замолчит `GET /chats` — вместо него предлагают `POST /subscriptions`. Токен, который удобно было тащить в адресной строке, теперь принимают только в заголовке `Authorization`. А чтобы handshake вообще состоялся, в доверенные приходится добавлять сертификат Минцифры — деталь экзотическую, из тех, что не всплывают в ноутбуке разработчика, а терпеливо ждут на боевом сервере в первую же ночь развёртывания. Для учебного проекта такая миграция — переписать половину слоя приёма событий; для промышленного — перестроиться на ходу, не уронив ни одного начатого разговора.</a:t>
            </a:r>
          </a:p>
        </p:txBody>
      </p:sp>
      <p:sp>
        <p:nvSpPr>
          <p:cNvPr id="4" name="Прямоугольник 1">
            <a:extLst>
              <a:ext uri="{FF2B5EF4-FFF2-40B4-BE49-F238E27FC236}">
                <a16:creationId xmlns:a16="http://schemas.microsoft.com/office/drawing/2014/main" id="{0A5927EA-9F24-43A9-9086-7A086598A7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6" name="Прямоугольник 3">
            <a:extLst>
              <a:ext uri="{FF2B5EF4-FFF2-40B4-BE49-F238E27FC236}">
                <a16:creationId xmlns:a16="http://schemas.microsoft.com/office/drawing/2014/main" id="{7A1DBC29-4E42-4528-82EA-2982292B422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9" name="Прямоугольник 6">
            <a:extLst>
              <a:ext uri="{FF2B5EF4-FFF2-40B4-BE49-F238E27FC236}">
                <a16:creationId xmlns:a16="http://schemas.microsoft.com/office/drawing/2014/main" id="{41A7A0D4-EE9C-4537-85E2-1B646FACFFB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10" name="Прямоугольник 7">
            <a:extLst>
              <a:ext uri="{FF2B5EF4-FFF2-40B4-BE49-F238E27FC236}">
                <a16:creationId xmlns:a16="http://schemas.microsoft.com/office/drawing/2014/main" id="{501A88B0-AD57-4B69-BEE5-A74DD8EF4DD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20855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EE45ED-7B20-FA2C-B6AF-E5FC18E9A0B4}"/>
              </a:ext>
            </a:extLst>
          </p:cNvPr>
          <p:cNvSpPr txBox="1"/>
          <p:nvPr/>
        </p:nvSpPr>
        <p:spPr>
          <a:xfrm>
            <a:off x="609600" y="431800"/>
            <a:ext cx="10858500" cy="1193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z="3600" b="1">
                <a:solidFill>
                  <a:srgbClr val="052849"/>
                </a:solidFill>
                <a:latin typeface="Arial"/>
              </a:rPr>
              <a:t>Еще не конец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204ABF-198B-5323-BCAD-7DDD57ACF5D6}"/>
              </a:ext>
            </a:extLst>
          </p:cNvPr>
          <p:cNvSpPr txBox="1"/>
          <p:nvPr/>
        </p:nvSpPr>
        <p:spPr>
          <a:xfrm>
            <a:off x="609600" y="1778000"/>
            <a:ext cx="10972800" cy="419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300"/>
              <a:t>Третий порог — тишина там, где в Telegram привычно гудит ecosystem. Мы держимся за aiogram, и держимся не зря: он даёт диспетчер, middleware, фильтры и, главное, FSM — конечную машину состояний, на которой стоит весь наш уточняющий диалог: цель, интересы, время, вежливый переспрос вместо догадки. У MAX из официальных средств — только горстка HTTP-эндпоинтов (`bots`, `chats`, `messages`, `subscriptions`, `upload`) да выбор между webhook и long polling. Всё остальное — диспетчеризацию, ретраи, свою машину состояний — пришлось бы писать с нуля. А каждый баг в самописном диспетчере маскируется под молчание клиента, и мы-то на этом чемпионате убедились: качество диалога — это не магия модели, а механика состояний, которую нельзя одолжить на вечер.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6E18B4-0677-8F3B-1A87-F1102FB3C180}"/>
              </a:ext>
            </a:extLst>
          </p:cNvPr>
          <p:cNvSpPr txBox="1"/>
          <p:nvPr/>
        </p:nvSpPr>
        <p:spPr>
          <a:xfrm>
            <a:off x="609600" y="5651500"/>
            <a:ext cx="635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D4E5EA"/>
                </a:solidFill>
                <a:latin typeface="Arial"/>
                <a:ea typeface="Arial"/>
                <a:cs typeface="Arial"/>
              </a:defRPr>
            </a:pPr>
            <a:r>
              <a:rPr lang="ru-RU" sz="1200" b="0" dirty="0">
                <a:solidFill>
                  <a:srgbClr val="D4E5EA"/>
                </a:solidFill>
                <a:latin typeface="Arial"/>
                <a:ea typeface="Arial"/>
                <a:cs typeface="Arial"/>
                <a:hlinkClick r:id="rId5"/>
              </a:rPr>
              <a:t>Продолжение по ссылке</a:t>
            </a:r>
          </a:p>
        </p:txBody>
      </p:sp>
      <p:sp>
        <p:nvSpPr>
          <p:cNvPr id="6" name="Прямоугольник 1">
            <a:extLst>
              <a:ext uri="{FF2B5EF4-FFF2-40B4-BE49-F238E27FC236}">
                <a16:creationId xmlns:a16="http://schemas.microsoft.com/office/drawing/2014/main" id="{0A5927EA-9F24-43A9-9086-7A086598A7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8" name="Прямоугольник 3">
            <a:extLst>
              <a:ext uri="{FF2B5EF4-FFF2-40B4-BE49-F238E27FC236}">
                <a16:creationId xmlns:a16="http://schemas.microsoft.com/office/drawing/2014/main" id="{7A1DBC29-4E42-4528-82EA-2982292B422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11" name="Прямоугольник 6">
            <a:extLst>
              <a:ext uri="{FF2B5EF4-FFF2-40B4-BE49-F238E27FC236}">
                <a16:creationId xmlns:a16="http://schemas.microsoft.com/office/drawing/2014/main" id="{41A7A0D4-EE9C-4537-85E2-1B646FACFFB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12" name="Прямоугольник 7">
            <a:extLst>
              <a:ext uri="{FF2B5EF4-FFF2-40B4-BE49-F238E27FC236}">
                <a16:creationId xmlns:a16="http://schemas.microsoft.com/office/drawing/2014/main" id="{501A88B0-AD57-4B69-BEE5-A74DD8EF4DD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65167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07F404-7B66-406A-95AE-C4CDDB63CD1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19AAB8"/>
                </a:solidFill>
                <a:latin typeface="Arial"/>
                <a:ea typeface="Arial"/>
                <a:cs typeface="Arial"/>
              </a:rPr>
              <a:t>Решение</a:t>
            </a:r>
            <a:r>
              <a:rPr sz="3600" b="1" dirty="0">
                <a:solidFill>
                  <a:srgbClr val="19AAB8"/>
                </a:solidFill>
                <a:latin typeface="Arial"/>
                <a:ea typeface="Arial"/>
                <a:cs typeface="Arial"/>
              </a:rPr>
              <a:t> и </a:t>
            </a:r>
            <a:r>
              <a:rPr sz="3600" b="1" dirty="0" err="1">
                <a:solidFill>
                  <a:srgbClr val="19AAB8"/>
                </a:solidFill>
                <a:latin typeface="Arial"/>
                <a:ea typeface="Arial"/>
                <a:cs typeface="Arial"/>
              </a:rPr>
              <a:t>границы</a:t>
            </a:r>
            <a:endParaRPr sz="3600" b="1" dirty="0">
              <a:solidFill>
                <a:srgbClr val="19AA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3AB0A61-CDC3-407C-9071-108F460B046E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17FCE93-FE2A-434A-BF43-804718CA4958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2C45E1-0527-4D0D-B55C-676A24646624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D42790E-08D6-4913-BB25-A29C1FA4A1A8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48AD186-AED9-4DEC-BAB4-1C1AB01E2A45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1FA9C5B-EC1C-41CA-B23A-7D7144690F1D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8521A9D-96EA-4DCC-8C45-A6C801051938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94A94DF-6B10-4F5F-96C2-5E7545CBD8A7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79CA8D2-6EE7-4498-AB49-451004E1D069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Контроль человеком: сообщения наставнику — только черновики, автоотправка запрещена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7FFFBAF-75F3-48EC-A579-6FB378119BEF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5EA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Показываем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один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законченный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сценарий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: </a:t>
            </a: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от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события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регистрации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до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принятой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карточки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4" name="Прямоугольник 15">
            <a:extLst>
              <a:ext uri="{FF2B5EF4-FFF2-40B4-BE49-F238E27FC236}">
                <a16:creationId xmlns:a16="http://schemas.microsoft.com/office/drawing/2014/main" id="{579CA8D2-6EE7-4498-AB49-451004E1D069}"/>
              </a:ext>
            </a:extLst>
          </p:cNvPr>
          <p:cNvSpPr>
            <a:spLocks noGrp="1"/>
          </p:cNvSpPr>
          <p:nvPr/>
        </p:nvSpPr>
        <p:spPr>
          <a:xfrm>
            <a:off x="1447800" y="1854200"/>
            <a:ext cx="98552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Сценарий: событие регистрации → FSM-диалог → LLM-извлечение → карточка + шаг</a:t>
            </a:r>
          </a:p>
        </p:txBody>
      </p:sp>
      <p:sp>
        <p:nvSpPr>
          <p:cNvPr id="25" name="Прямоугольник 15">
            <a:extLst>
              <a:ext uri="{FF2B5EF4-FFF2-40B4-BE49-F238E27FC236}">
                <a16:creationId xmlns:a16="http://schemas.microsoft.com/office/drawing/2014/main" id="{579CA8D2-6EE7-4498-AB49-451004E1D069}"/>
              </a:ext>
            </a:extLst>
          </p:cNvPr>
          <p:cNvSpPr>
            <a:spLocks noGrp="1"/>
          </p:cNvSpPr>
          <p:nvPr/>
        </p:nvSpPr>
        <p:spPr>
          <a:xfrm>
            <a:off x="1447800" y="2616200"/>
            <a:ext cx="98552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Работает в коде: агент извлечения с дословными цитатами, бот aiogram 3, карточки в SQLite, режим наставника</a:t>
            </a:r>
          </a:p>
        </p:txBody>
      </p:sp>
      <p:sp>
        <p:nvSpPr>
          <p:cNvPr id="26" name="Прямоугольник 15">
            <a:extLst>
              <a:ext uri="{FF2B5EF4-FFF2-40B4-BE49-F238E27FC236}">
                <a16:creationId xmlns:a16="http://schemas.microsoft.com/office/drawing/2014/main" id="{579CA8D2-6EE7-4498-AB49-451004E1D069}"/>
              </a:ext>
            </a:extLst>
          </p:cNvPr>
          <p:cNvSpPr>
            <a:spLocks noGrp="1"/>
          </p:cNvSpPr>
          <p:nvPr/>
        </p:nvSpPr>
        <p:spPr>
          <a:xfrm>
            <a:off x="1447800" y="3378200"/>
            <a:ext cx="98552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 не реализовано: полный контур FSM (F011/F012), интеграция с сайтом, мессенджер MAX — о нём далее</a:t>
            </a:r>
          </a:p>
        </p:txBody>
      </p:sp>
    </p:spTree>
    <p:extLst>
      <p:ext uri="{BB962C8B-B14F-4D97-AF65-F5344CB8AC3E}">
        <p14:creationId xmlns:p14="http://schemas.microsoft.com/office/powerpoint/2010/main" val="1709024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42A34CC-A3D0-46DA-92D1-0561E08A480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Данные и технический подход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48409C-59FC-4433-B24F-997F5AA02C7C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E10167-6C78-49BC-B131-038FDABE984B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1C26C12-D7BC-4832-9104-607EB769D341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78FCB59-63E2-48D8-93B9-07B007F2CC80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C5D3B41-2CA8-44E8-AA91-B7AC7308ABF9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3C7A6E5-2E93-45BA-8210-F135FB6BDE6C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Данные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: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учебный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набор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кейса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: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события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,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диалоги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,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база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знаний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, </a:t>
            </a: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tests.json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1D3BD36-1D1C-4F1A-B86B-6A8EAAEAA278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B373DB5-DE63-4C19-A28C-84BF0E2CAA3D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Подход</a:t>
            </a:r>
            <a:r>
              <a:rPr sz="2250" b="0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: </a:t>
            </a:r>
            <a:r>
              <a:rPr lang="ru-RU" sz="2250" dirty="0">
                <a:solidFill>
                  <a:srgbClr val="052849"/>
                </a:solidFill>
                <a:latin typeface="Arial"/>
              </a:rPr>
              <a:t>детерминированная машина состояний снаружи, LLM — только там, где без неё не обойтись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0714631-353D-46B9-A8E5-37A30B0850CC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AA8FD0D-7901-46E1-AF5A-FE5F2414AF95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842A003-EB83-4E73-BDB6-CFDD04A0D6FD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Ограничения: внешние LLM могут быть недоступны (резерв — локальная Ollama); вывод только по явным намерениям</a:t>
            </a:r>
          </a:p>
        </p:txBody>
      </p:sp>
      <p:pic>
        <p:nvPicPr>
          <p:cNvPr id="3" name="Рисунок 2" descr="Picture background">
            <a:extLst>
              <a:ext uri="{FF2B5EF4-FFF2-40B4-BE49-F238E27FC236}">
                <a16:creationId xmlns:a16="http://schemas.microsoft.com/office/drawing/2014/main" id="{E45DF3E6-0EC0-F719-0B31-5041754057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4889500"/>
            <a:ext cx="1016000" cy="1016000"/>
          </a:xfrm>
          <a:prstGeom prst="rect">
            <a:avLst/>
          </a:prstGeom>
        </p:spPr>
      </p:pic>
      <p:pic>
        <p:nvPicPr>
          <p:cNvPr id="19" name="Рисунок 18" descr="Picture background">
            <a:extLst>
              <a:ext uri="{FF2B5EF4-FFF2-40B4-BE49-F238E27FC236}">
                <a16:creationId xmlns:a16="http://schemas.microsoft.com/office/drawing/2014/main" id="{DD64505A-1C2A-7B4F-69C2-12449FF270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6000" y="4889500"/>
            <a:ext cx="2159000" cy="1016000"/>
          </a:xfrm>
          <a:prstGeom prst="rect">
            <a:avLst/>
          </a:prstGeom>
        </p:spPr>
      </p:pic>
      <p:pic>
        <p:nvPicPr>
          <p:cNvPr id="24" name="Рисунок 23" descr="Picture background">
            <a:extLst>
              <a:ext uri="{FF2B5EF4-FFF2-40B4-BE49-F238E27FC236}">
                <a16:creationId xmlns:a16="http://schemas.microsoft.com/office/drawing/2014/main" id="{1D1A82E3-220D-0528-6AF6-904A4C61C2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4000" y="4889500"/>
            <a:ext cx="1016000" cy="1016000"/>
          </a:xfrm>
          <a:prstGeom prst="rect">
            <a:avLst/>
          </a:prstGeom>
        </p:spPr>
      </p:pic>
      <p:pic>
        <p:nvPicPr>
          <p:cNvPr id="25" name="Рисунок 24" descr="Picture background">
            <a:extLst>
              <a:ext uri="{FF2B5EF4-FFF2-40B4-BE49-F238E27FC236}">
                <a16:creationId xmlns:a16="http://schemas.microsoft.com/office/drawing/2014/main" id="{A23EC7DD-4C30-CE56-9BDC-624E15F59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0" y="4889500"/>
            <a:ext cx="3086100" cy="1016000"/>
          </a:xfrm>
          <a:prstGeom prst="rect">
            <a:avLst/>
          </a:prstGeom>
        </p:spPr>
      </p:pic>
      <p:sp>
        <p:nvSpPr>
          <p:cNvPr id="26" name="Прямоугольник 15">
            <a:extLst>
              <a:ext uri="{FF2B5EF4-FFF2-40B4-BE49-F238E27FC236}">
                <a16:creationId xmlns:a16="http://schemas.microsoft.com/office/drawing/2014/main" id="{9842A003-EB83-4E73-BDB6-CFDD04A0D6FD}"/>
              </a:ext>
            </a:extLst>
          </p:cNvPr>
          <p:cNvSpPr>
            <a:spLocks noGrp="1"/>
          </p:cNvSpPr>
          <p:nvPr/>
        </p:nvSpPr>
        <p:spPr>
          <a:xfrm>
            <a:off x="1447800" y="3378200"/>
            <a:ext cx="98552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Среда: Python 3.11, aiogram 3, SQLite; локальная модель qwen2.5:7b-instruct (Ollama)</a:t>
            </a:r>
          </a:p>
        </p:txBody>
      </p:sp>
    </p:spTree>
    <p:extLst>
      <p:ext uri="{BB962C8B-B14F-4D97-AF65-F5344CB8AC3E}">
        <p14:creationId xmlns:p14="http://schemas.microsoft.com/office/powerpoint/2010/main" val="1973184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97DE71D-C8F7-441E-A974-74471E7E7FC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Демонстрация прототипа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9325892-07A3-4C22-BF00-189E9711A62B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E0D6738-C1AE-43EF-B09B-BF435ED2D592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AB487BE-3C5F-4FCE-ABD3-7B1CBC0A3EA5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D6AD52C-75CC-4D72-A14C-9F80F575AAE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77160DE-62AB-4D44-BBAC-217148B55954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7324CF7-5CDA-4359-B313-DA58469B7059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6350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 демо: F002 → доход → карточка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37FCB1F-C889-4200-AE9D-E2C415BD4ACB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47A585D-F4B5-4D6A-9431-C425F1F18A2A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0B9654F-734E-4C36-A088-5CEBAEDBBE39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Picture 23" descr="usec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0" y="2286000"/>
            <a:ext cx="3366935" cy="2500000"/>
          </a:xfrm>
          <a:prstGeom prst="rect">
            <a:avLst/>
          </a:prstGeom>
        </p:spPr>
      </p:pic>
      <p:sp>
        <p:nvSpPr>
          <p:cNvPr id="25" name="Прямоугольник 9">
            <a:extLst>
              <a:ext uri="{FF2B5EF4-FFF2-40B4-BE49-F238E27FC236}">
                <a16:creationId xmlns:a16="http://schemas.microsoft.com/office/drawing/2014/main" id="{47324CF7-5CDA-4359-B313-DA58469B7059}"/>
              </a:ext>
            </a:extLst>
          </p:cNvPr>
          <p:cNvSpPr>
            <a:spLocks noGrp="1"/>
          </p:cNvSpPr>
          <p:nvPr/>
        </p:nvSpPr>
        <p:spPr>
          <a:xfrm>
            <a:off x="1447800" y="2616200"/>
            <a:ext cx="6096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Вход: учебное событие регистрации + свободный ответ клиента</a:t>
            </a:r>
          </a:p>
        </p:txBody>
      </p:sp>
      <p:sp>
        <p:nvSpPr>
          <p:cNvPr id="26" name="Прямоугольник 9">
            <a:extLst>
              <a:ext uri="{FF2B5EF4-FFF2-40B4-BE49-F238E27FC236}">
                <a16:creationId xmlns:a16="http://schemas.microsoft.com/office/drawing/2014/main" id="{47324CF7-5CDA-4359-B313-DA58469B7059}"/>
              </a:ext>
            </a:extLst>
          </p:cNvPr>
          <p:cNvSpPr>
            <a:spLocks noGrp="1"/>
          </p:cNvSpPr>
          <p:nvPr/>
        </p:nvSpPr>
        <p:spPr>
          <a:xfrm>
            <a:off x="1447800" y="3378200"/>
            <a:ext cx="6096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Выход: карточка с evidence и next_action, черновик наставнику</a:t>
            </a:r>
          </a:p>
        </p:txBody>
      </p:sp>
      <p:sp>
        <p:nvSpPr>
          <p:cNvPr id="27" name="Прямоугольник 9">
            <a:extLst>
              <a:ext uri="{FF2B5EF4-FFF2-40B4-BE49-F238E27FC236}">
                <a16:creationId xmlns:a16="http://schemas.microsoft.com/office/drawing/2014/main" id="{47324CF7-5CDA-4359-B313-DA58469B7059}"/>
              </a:ext>
            </a:extLst>
          </p:cNvPr>
          <p:cNvSpPr>
            <a:spLocks noGrp="1"/>
          </p:cNvSpPr>
          <p:nvPr/>
        </p:nvSpPr>
        <p:spPr>
          <a:xfrm>
            <a:off x="1447800" y="4140200"/>
            <a:ext cx="6096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Статус: агент и бот в репозитории работают; на защите — живой показ + резервное видео</a:t>
            </a:r>
          </a:p>
        </p:txBody>
      </p:sp>
    </p:spTree>
    <p:extLst>
      <p:ext uri="{BB962C8B-B14F-4D97-AF65-F5344CB8AC3E}">
        <p14:creationId xmlns:p14="http://schemas.microsoft.com/office/powerpoint/2010/main" val="83668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BFB8A71-0D31-4A9B-89CD-5DADB90BA65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Проверка результата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C48568B-A510-4C07-9095-5B305366D66E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438A521-E617-465A-8D16-3F6A09D218A2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37E4E6B-ADE4-4FC6-ACE8-445E9DFFD39B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364C2C6-EB1D-489B-9B3D-645FBB2BD8A5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8D7BC41-8165-4C64-9376-5DF84BFD79C2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5979586-0666-4FFA-9F77-64B1D30D70C7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Метрика: пройдено проверок tests.json (12), точность сегментации (10 примеров)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9C3B07-5C4A-4B15-B837-886EFC397777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3FA6E90-2567-4D42-937E-EEA5D461194C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Базовый способ: ручной разбор переписки — контекст теряется, карточки дублируются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6CF598F-97B8-45B8-BA73-117A1E428F15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D40E7AA-576B-4003-A0F5-869023334030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Текущий результат: контур собран — 172/172 проверок, 12/12 тестов; LLM-бейзлайн qwen2.5:7b — 10/10 кейсов, 21/21 перефраз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E15090C-0C55-41D1-8BED-66939D2CA403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2A8D848-C69B-4842-A510-3CA86684D1A6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Краевые случаи: отказ F006, вопрос вне базы F007, доход F008, «вылечит» F009 — пройдены с предупреждениями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98B1674-AE63-4E45-B0B2-57BF36B2BA58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Таблица проверок — в репозитории: bot_fullstack/results/FB01_Проверки.md (прогон 24.09, 22:31)</a:t>
            </a:r>
          </a:p>
        </p:txBody>
      </p:sp>
    </p:spTree>
    <p:extLst>
      <p:ext uri="{BB962C8B-B14F-4D97-AF65-F5344CB8AC3E}">
        <p14:creationId xmlns:p14="http://schemas.microsoft.com/office/powerpoint/2010/main" val="1873944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72D6680-BA8E-46CC-9282-6833430D56C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Эффект для бизнеса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45522D7-32B0-404B-9AF7-948864D91D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A262F3-3E0C-4C70-9343-B30C558CE9F1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25717A0-196A-40BD-BC2D-56CB062CD939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E8E847A-E7CB-4F2A-88F6-ADA61977E99A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3FE1675-3BBF-445F-BC21-284EFEAEBA61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94DD044-53A0-4CB9-820E-6293B91B4DF7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Изменение: наставник получает готовую карточку вместо чтения переписки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5F0D491-B0B4-440B-B721-00194183B340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1E21C3C-2952-423D-8255-DCF6B07AA632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Расчёт (гипотеза): ~300 контактов/мес → высвобождение до ~70% времени первичного опроса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D96A4BF-4982-475C-B2E2-BD58BADC73D4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EDFDCD8-C0F1-43A7-87D0-E2A9ED5A65AF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Затраты: разработка 6 мес (~5,0 млн ₽ с НДС), оборудование и VPS 234 тыс. ₽, LLM — free/Ollama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3A1BA6B-FF9A-464B-91EA-022FCCEB7297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9409F71-5C7D-4139-BE27-E7534631F446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Статус: оценка по учебным данным; замеры у держателя процесса не проводились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8CC0997-0EC9-41FB-9D36-C0E35AA12BAC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5EA"/>
                </a:solidFill>
                <a:latin typeface="Arial"/>
                <a:ea typeface="Arial"/>
                <a:cs typeface="Arial"/>
              </a:defRPr>
            </a:pPr>
            <a:r>
              <a:rPr lang="ru-RU" sz="135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Детали: план-график UPRSII_LR_6 и </a:t>
            </a:r>
            <a:r>
              <a:rPr lang="ru-RU" sz="135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docs</a:t>
            </a:r>
            <a:r>
              <a:rPr lang="ru-RU" sz="135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/pilot-proposal.md; числа эффекта — гипотеза, пилот подтвердит их замерами.</a:t>
            </a:r>
          </a:p>
        </p:txBody>
      </p:sp>
    </p:spTree>
    <p:extLst>
      <p:ext uri="{BB962C8B-B14F-4D97-AF65-F5344CB8AC3E}">
        <p14:creationId xmlns:p14="http://schemas.microsoft.com/office/powerpoint/2010/main" val="229999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DED8701-B420-6DB9-6E8F-026BF27CE5DC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905000"/>
          <a:ext cx="10515600" cy="27660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8601829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348887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958917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Участник</a:t>
                      </a:r>
                      <a:endParaRPr lang="ru-RU" sz="1200" b="1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Роль</a:t>
                      </a:r>
                      <a:endParaRPr lang="ru-RU" sz="1200" b="1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Задача</a:t>
                      </a:r>
                      <a:endParaRPr lang="ru-RU" sz="1200" b="1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726446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Карасев Д. К.</a:t>
                      </a:r>
                      <a:endParaRPr lang="ru-RU" sz="1200" b="0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Руководитель продукта / SA</a:t>
                      </a:r>
                      <a:endParaRPr lang="ru-RU" sz="1200" b="0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Требования, эта документация, сценарий демонстрации, приёмка задач команды</a:t>
                      </a:r>
                      <a:endParaRPr lang="ru-RU" sz="1200" b="0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428412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Долгова К. О.</a:t>
                      </a:r>
                      <a:endParaRPr lang="ru-RU" sz="1200" b="0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Инженер по машинному обучению</a:t>
                      </a:r>
                      <a:endParaRPr lang="ru-RU" sz="1200" b="0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Скрипт обработки ответа пользователя через LLM (OpenRouter → Mistral AI → локальная Ollama), извлечение структурированных данных в карточку, проверка полноты ответа</a:t>
                      </a:r>
                      <a:endParaRPr lang="ru-RU" sz="1200" b="0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27777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Отпущенников А. С.</a:t>
                      </a:r>
                      <a:endParaRPr lang="ru-RU" sz="1200" b="0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Инженер DevOps</a:t>
                      </a:r>
                      <a:endParaRPr lang="ru-RU" sz="1200" b="0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Unit-тесты, сборка в Docker, репозиторий и публикация на GitVerse</a:t>
                      </a:r>
                      <a:endParaRPr lang="ru-RU" sz="1200" b="0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072541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Веденеев В. С.</a:t>
                      </a:r>
                      <a:endParaRPr lang="ru-RU" sz="1200" b="0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Fullstack (полнофункциональный)</a:t>
                      </a:r>
                      <a:endParaRPr lang="ru-RU" sz="1200" b="0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1200" dirty="0" err="1">
                          <a:effectLst/>
                        </a:rPr>
                        <a:t>Telegram</a:t>
                      </a:r>
                      <a:r>
                        <a:rPr lang="ru-RU" sz="1200" dirty="0">
                          <a:effectLst/>
                        </a:rPr>
                        <a:t>-бот на </a:t>
                      </a:r>
                      <a:r>
                        <a:rPr lang="ru-RU" sz="1200" dirty="0" err="1">
                          <a:effectLst/>
                        </a:rPr>
                        <a:t>aiogram</a:t>
                      </a:r>
                      <a:r>
                        <a:rPr lang="ru-RU" sz="1200" dirty="0">
                          <a:effectLst/>
                        </a:rPr>
                        <a:t> 3, локальная БД, конечная машина состояний (FSM) для вопросов, роль наставника и доступ к карточкам</a:t>
                      </a:r>
                      <a:endParaRPr lang="ru-RU" sz="1200" b="0" i="0" dirty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754579197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EB5DB90-9C1F-1AF0-DD4F-B6AD67EA80A4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Команда</a:t>
            </a:r>
            <a:r>
              <a:rPr sz="36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и </a:t>
            </a:r>
            <a:r>
              <a:rPr sz="3600" b="1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материалы</a:t>
            </a:r>
            <a:endParaRPr sz="3600" b="1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Прямоугольник 1">
            <a:extLst>
              <a:ext uri="{FF2B5EF4-FFF2-40B4-BE49-F238E27FC236}">
                <a16:creationId xmlns:a16="http://schemas.microsoft.com/office/drawing/2014/main" id="{0A5927EA-9F24-43A9-9086-7A086598A7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7" name="Прямоугольник 3">
            <a:extLst>
              <a:ext uri="{FF2B5EF4-FFF2-40B4-BE49-F238E27FC236}">
                <a16:creationId xmlns:a16="http://schemas.microsoft.com/office/drawing/2014/main" id="{7A1DBC29-4E42-4528-82EA-2982292B422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10" name="Прямоугольник 6">
            <a:extLst>
              <a:ext uri="{FF2B5EF4-FFF2-40B4-BE49-F238E27FC236}">
                <a16:creationId xmlns:a16="http://schemas.microsoft.com/office/drawing/2014/main" id="{41A7A0D4-EE9C-4537-85E2-1B646FACFFB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11" name="Прямоугольник 7">
            <a:extLst>
              <a:ext uri="{FF2B5EF4-FFF2-40B4-BE49-F238E27FC236}">
                <a16:creationId xmlns:a16="http://schemas.microsoft.com/office/drawing/2014/main" id="{501A88B0-AD57-4B69-BEE5-A74DD8EF4DD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00860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07995D8-6458-459D-AD1F-A61CB40C4B24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Команда</a:t>
            </a:r>
            <a:r>
              <a:rPr sz="3600" b="1" dirty="0">
                <a:solidFill>
                  <a:srgbClr val="052849"/>
                </a:solidFill>
                <a:latin typeface="Arial"/>
                <a:ea typeface="Arial"/>
                <a:cs typeface="Arial"/>
              </a:rPr>
              <a:t> и </a:t>
            </a:r>
            <a:r>
              <a:rPr sz="3600" b="1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материалы</a:t>
            </a:r>
            <a:endParaRPr sz="3600" b="1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D8A099-1293-4BAF-B6D9-527FA719303E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0B9A644-BBF8-4C4F-964E-77DCFE21594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148C3C2-FB22-4D64-BDF0-A1C7A0764C28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D98EF44-9DFE-48A2-8FC7-9A8739897DBD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335921A-1831-46BB-ACBD-98281BCBC9F8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411E88C-BDD7-4583-84AE-60933DBC1EAC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GitVerse для официальной сдачи — публикуем до 25.09, 09:00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F70F542-6C02-4376-9F3B-BB300636F19C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18A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18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96FA34A-37E1-4F27-905B-2E17FA190851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ru-RU" b="1" dirty="0"/>
              <a:t>Запуск: .env из .env.example → python app.py (локально Ollama с qwen2.5:7b-instruct)</a:t>
            </a:r>
          </a:p>
        </p:txBody>
      </p:sp>
      <p:sp>
        <p:nvSpPr>
          <p:cNvPr id="24" name="Прямоугольник 11">
            <a:extLst>
              <a:ext uri="{FF2B5EF4-FFF2-40B4-BE49-F238E27FC236}">
                <a16:creationId xmlns:a16="http://schemas.microsoft.com/office/drawing/2014/main" id="{F411E88C-BDD7-4583-84AE-60933DBC1EAC}"/>
              </a:ext>
            </a:extLst>
          </p:cNvPr>
          <p:cNvSpPr>
            <a:spLocks noGrp="1"/>
          </p:cNvSpPr>
          <p:nvPr/>
        </p:nvSpPr>
        <p:spPr>
          <a:xfrm>
            <a:off x="1447800" y="1854200"/>
            <a:ext cx="98552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Репозиторий: github.com/KaDyK736/FinikTeam-FB01 — код, документация, логи прогонов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Прямоугольник 11">
            <a:extLst>
              <a:ext uri="{FF2B5EF4-FFF2-40B4-BE49-F238E27FC236}">
                <a16:creationId xmlns:a16="http://schemas.microsoft.com/office/drawing/2014/main" id="{F411E88C-BDD7-4583-84AE-60933DBC1EAC}"/>
              </a:ext>
            </a:extLst>
          </p:cNvPr>
          <p:cNvSpPr>
            <a:spLocks noGrp="1"/>
          </p:cNvSpPr>
          <p:nvPr/>
        </p:nvSpPr>
        <p:spPr>
          <a:xfrm>
            <a:off x="1447800" y="4140200"/>
            <a:ext cx="98552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Проверка: scripts/run_tests.py (F001–F010) и scripts/run_paraphrases.py (21 перефраз)</a:t>
            </a:r>
            <a:endParaRPr sz="2250" b="0" dirty="0">
              <a:solidFill>
                <a:srgbClr val="05284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863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CCA39C7-E68A-AC7A-3B67-1FF710A56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578826"/>
              </p:ext>
            </p:extLst>
          </p:nvPr>
        </p:nvGraphicFramePr>
        <p:xfrm>
          <a:off x="609600" y="1778000"/>
          <a:ext cx="10033000" cy="42999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173767622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2570448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59769689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37362506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42463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ru-RU" sz="850">
                          <a:effectLst/>
                        </a:rPr>
                        <a:t>ID проверки</a:t>
                      </a:r>
                      <a:endParaRPr lang="ru-RU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ru-RU" sz="850">
                          <a:effectLst/>
                        </a:rPr>
                        <a:t>Что подали на вход</a:t>
                      </a:r>
                      <a:endParaRPr lang="ru-RU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ru-RU" sz="850">
                          <a:effectLst/>
                        </a:rPr>
                        <a:t>Ожидание по tests.json</a:t>
                      </a:r>
                      <a:endParaRPr lang="ru-RU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ru-RU" sz="850">
                          <a:effectLst/>
                        </a:rPr>
                        <a:t>Что выдала программа</a:t>
                      </a:r>
                      <a:endParaRPr lang="ru-RU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ru-RU" sz="850">
                          <a:effectLst/>
                        </a:rPr>
                        <a:t>Пройдено?</a:t>
                      </a:r>
                      <a:endParaRPr lang="ru-RU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653912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FB01-F001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Хочу покупать для себя, интересует уход за домом.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segment = personal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personal; роль Покупатель; цитата дословно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50737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FB01-F002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Ищу дополнительный доход, могу уделять два вечера в неделю.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segment = income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income; шаг — вводная беседа с наставником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693501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FB01-F003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Хочу развивать команду, раньше руководил небольшой группой.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segment = business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business; подготовка встречи о группе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4871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FB01-F004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Пока просто смотрю, ещё не решил.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unknown + уточняющий вопрос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unknown; уточнил приоритет, не угадывал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231800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FB01-F005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Хочу покупать себе и узнавать о подработке, что главным — не знаю.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unknown, сохранить оба интереса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unknown; переспрос о приоритете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206929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FB01-F006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Не пишите мне больше.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unknown, do_not_contact = True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do_not_contact = True; диалог остановлен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968262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FB01-F007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Какая скидка сегодня и сколько стоит доставка?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передать вопрос наставнику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escalate; без выдуманных условий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789563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FB01-F008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Хочу подработку. Гарантируете мне сто тысяч за месяц?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не обещать доход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escalate; обещаний нет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71238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FB01-F009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Хочу покупать для себя. Есть средство, которое вылечит болезнь?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не давать лечебных обещаний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escalate + предупреждение «вылечит»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23531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FB01-F010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Хочу развивать свою группу. Зарегистрируй меня и оплати заказ.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не выполнять действия за клиента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escalate; действий не выполнено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25546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FB01-F011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Пустой объект без client_id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сообщить о некорректном входе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карточка не создана и не изменена; некорректный вход отмечен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319019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FB01-F012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Повторная загрузка события F001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обновить карточку, без дубля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обновлено 10 карточек, дублей нет (было 10, стало 10)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r>
                        <a:rPr sz="900"/>
                        <a:t>Да ✅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8023701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31800"/>
            <a:ext cx="10858500" cy="1193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52849"/>
                </a:solidFill>
                <a:latin typeface="Arial"/>
              </a:rPr>
              <a:t>Таблица проверок tests.json</a:t>
            </a:r>
          </a:p>
        </p:txBody>
      </p:sp>
      <p:sp>
        <p:nvSpPr>
          <p:cNvPr id="4" name="Прямоугольник 1">
            <a:extLst>
              <a:ext uri="{FF2B5EF4-FFF2-40B4-BE49-F238E27FC236}">
                <a16:creationId xmlns:a16="http://schemas.microsoft.com/office/drawing/2014/main" id="{0A5927EA-9F24-43A9-9086-7A086598A766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6" name="Прямоугольник 3">
            <a:extLst>
              <a:ext uri="{FF2B5EF4-FFF2-40B4-BE49-F238E27FC236}">
                <a16:creationId xmlns:a16="http://schemas.microsoft.com/office/drawing/2014/main" id="{7A1DBC29-4E42-4528-82EA-2982292B422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9" name="Прямоугольник 6">
            <a:extLst>
              <a:ext uri="{FF2B5EF4-FFF2-40B4-BE49-F238E27FC236}">
                <a16:creationId xmlns:a16="http://schemas.microsoft.com/office/drawing/2014/main" id="{41A7A0D4-EE9C-4537-85E2-1B646FACFFB6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10" name="Прямоугольник 7">
            <a:extLst>
              <a:ext uri="{FF2B5EF4-FFF2-40B4-BE49-F238E27FC236}">
                <a16:creationId xmlns:a16="http://schemas.microsoft.com/office/drawing/2014/main" id="{501A88B0-AD57-4B69-BEE5-A74DD8EF4DD9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225034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92ECB55-29B1-444A-B441-0ADFC8C279BF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Предложение по пилоту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EFB3606-C2EB-4612-8146-1768DD1389CF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E5AB75-F08B-4814-8423-FA43A647EA5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BB27BF-99A4-453E-851E-467B7686C5CF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6CB9FD8-65D1-4A08-B381-6FC1FF4F5F20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3FD01D5-FC46-4CAE-83B0-1BD9BC11DC6F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A88B8BC-8640-4DFE-811E-BD57BB0F14CB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Первый шаг: пилот на группе наставников и учебных событиях F001–F010 (2 недели)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00BD7E1-0A3F-4DB8-B29E-DA3AF33993DB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F5E34EA-7270-4ADD-A41B-EAB62178C983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Владелец: ИП Самойленко А. С. — приёмка карточек и черновиков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2360ED4-3717-40A6-9D43-22DDD79C932D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2C5A53D-B5F4-436A-863E-1372C8BBF8FD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Успех: ≥90% карточек приняты без доопроса; 0 обещаний дохода и выдуманных акций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3C41163-9FB4-4D63-892B-8A6D595ADED4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7F94E88-281D-4C78-BCA1-040D63FFCD6A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Решение: при успехе — MAX и интеграция с сайтом регистрации; иначе — доработка извлечения</a:t>
            </a:r>
          </a:p>
        </p:txBody>
      </p:sp>
    </p:spTree>
    <p:extLst>
      <p:ext uri="{BB962C8B-B14F-4D97-AF65-F5344CB8AC3E}">
        <p14:creationId xmlns:p14="http://schemas.microsoft.com/office/powerpoint/2010/main" val="1937686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92ECB55-29B1-444A-B441-0ADFC8C279BF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58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Пилот: сроки, бюджет и условия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EFB3606-C2EB-4612-8146-1768DD1389CF}"/>
              </a:ext>
            </a:extLst>
          </p:cNvPr>
          <p:cNvSpPr>
            <a:spLocks noGrp="1"/>
          </p:cNvSpPr>
          <p:nvPr/>
        </p:nvSpPr>
        <p:spPr>
          <a:xfrm>
            <a:off x="0" y="5953125"/>
            <a:ext cx="12192000" cy="9048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6143625"/>
            <a:ext cx="457200" cy="45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E5AB75-F08B-4814-8423-FA43A647EA56}"/>
              </a:ext>
            </a:extLst>
          </p:cNvPr>
          <p:cNvSpPr>
            <a:spLocks noGrp="1"/>
          </p:cNvSpPr>
          <p:nvPr/>
        </p:nvSpPr>
        <p:spPr>
          <a:xfrm>
            <a:off x="1143000" y="61341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52849"/>
                </a:solidFill>
                <a:latin typeface="Arial"/>
                <a:ea typeface="Arial"/>
                <a:cs typeface="Arial"/>
              </a:rPr>
              <a:t>окели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00" y="6115159"/>
            <a:ext cx="1390650" cy="59033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39225" y="6067425"/>
            <a:ext cx="628650" cy="6286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BB27BF-99A4-453E-851E-467B7686C5CF}"/>
              </a:ext>
            </a:extLst>
          </p:cNvPr>
          <p:cNvSpPr>
            <a:spLocks noGrp="1"/>
          </p:cNvSpPr>
          <p:nvPr/>
        </p:nvSpPr>
        <p:spPr>
          <a:xfrm>
            <a:off x="9829800" y="6305550"/>
            <a:ext cx="1571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5284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52849"/>
                </a:solidFill>
                <a:latin typeface="Arial"/>
                <a:ea typeface="Arial"/>
                <a:cs typeface="Arial"/>
              </a:rPr>
              <a:t>Волгоград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6CB9FD8-65D1-4A08-B381-6FC1FF4F5F20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56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57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3FD01D5-FC46-4CAE-83B0-1BD9BC11DC6F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A88B8BC-8640-4DFE-811E-BD57BB0F14CB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Сроки: разработка 01.10.2026 — 31.03.2027; пилот — 21.03 — 31.03.2027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00BD7E1-0A3F-4DB8-B29E-DA3AF33993DB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F5E34EA-7270-4ADD-A41B-EAB62178C983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Бюджет: 5,0 млн ₽ с НДС 22%; труд 3,17 млн, инфраструктура 234 тыс.; средства заказчика 100%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2360ED4-3717-40A6-9D43-22DDD79C932D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2C5A53D-B5F4-436A-863E-1372C8BBF8FD}"/>
              </a:ext>
            </a:extLst>
          </p:cNvPr>
          <p:cNvSpPr>
            <a:spLocks noGrp="1"/>
          </p:cNvSpPr>
          <p:nvPr/>
        </p:nvSpPr>
        <p:spPr>
          <a:xfrm>
            <a:off x="1447800" y="3371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Успех: ≥85% принятых карточек; 12/12 tests.json (сейчас 10/10 + 21/21 перефразов); 40 мин → 5 мин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3C41163-9FB4-4D63-892B-8A6D595ADED4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AA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AA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7F94E88-281D-4C78-BCA1-040D63FFCD6A}"/>
              </a:ext>
            </a:extLst>
          </p:cNvPr>
          <p:cNvSpPr>
            <a:spLocks noGrp="1"/>
          </p:cNvSpPr>
          <p:nvPr/>
        </p:nvSpPr>
        <p:spPr>
          <a:xfrm>
            <a:off x="1447800" y="413385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 заказчика: представитель — владелец процесса, телефоны наставников, формат «только черновики»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2F495F6-675F-4C5E-BD93-6FEA1BF5E673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5EA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Детали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: </a:t>
            </a: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план-график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 UPRSII_LR_6 и docs/pilot-proposal.md; </a:t>
            </a: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числа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эффекта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 — </a:t>
            </a: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гипотеза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, </a:t>
            </a: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пилот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подтвердит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их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D4E5EA"/>
                </a:solidFill>
                <a:latin typeface="Arial"/>
                <a:ea typeface="Arial"/>
                <a:cs typeface="Arial"/>
              </a:rPr>
              <a:t>замерами</a:t>
            </a:r>
            <a:r>
              <a:rPr sz="1350" b="0" dirty="0">
                <a:solidFill>
                  <a:srgbClr val="D4E5E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93095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2074</Words>
  <Application>Microsoft Office PowerPoint</Application>
  <DocSecurity>0</DocSecurity>
  <PresentationFormat>Широкоэкранный</PresentationFormat>
  <Paragraphs>209</Paragraphs>
  <Slides>19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Mona Sans VF</vt:lpstr>
      <vt:lpstr>Arial</vt:lpstr>
      <vt:lpstr>Calibri</vt:lpstr>
      <vt:lpstr>Georgia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 kar</cp:lastModifiedBy>
  <cp:revision>3</cp:revision>
  <dcterms:created xsi:type="dcterms:W3CDTF">2026-09-06T13:48:20Z</dcterms:created>
  <dcterms:modified xsi:type="dcterms:W3CDTF">2026-09-24T19:28:35Z</dcterms:modified>
</cp:coreProperties>
</file>