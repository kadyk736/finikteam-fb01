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7" r:id="rId10"/>
    <p:sldId id="269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(0:00) Добрый день, команда Finik, кейс FB01. После обучающего мероприятия человек регистрируется на сайте Faberlic — и на этом первый контакт обычно гаснет: наставник физически не успевает поговорить со всеми.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(0:10) Мы возвращаем этому разговору форму: помощник сам ведёт с новичком короткую беседу и отдаёт наставнику не пустую строку, а карточку со словами самого клиента.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(0:20) Сегодня наставник разбирает переписку вручную — минуты, контекст теряется. Мы ставим цель: пять минут вместо сорока и 85% карточек, принятых без доработки. Цифры честные: это гипотеза, которую замерит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(0:35) Решение одно и законченное: событие регистрации, уточняющий диалог о цели и интересах, карточка с цитатой, черновик наставнику. Границы не прячем: MAX не освоили, за клиента не регистрируемся и не платим, доход и лечение не обещаем. И главное — автоотправки нет: каждое сообщение человеку отправляет наставник.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(0:55) Внутри — aiogram-бот, база SQLite и локальная модель qwen2.5: большая модель извлекает смысл из свободных ответов, а правила держат границы кейса. Всё поднимается без облачных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(1:10) Показываем живьём: вот клиент пишет «ищу подработку, могу два вечера в неделю» — вот карточка: сегмент, цитата, следующий шаг, и черновик для наставника готов. Если живое падает — сразу резервное видео без пауз.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(1:30) Красивому демо мы не верим — верим прогонам: контур собран, 172 автоматические проверки, ноль отказов, все двенадцать тестов кейса зелёные.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Эффект в цифре: разбор нового клиента с 40 минут ручной работы сокращается до 5 минут на готовую карточку. Это гипотеза, проверяем её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[2:25, одной фразой] Делали вчетвером: продукт и архитектура, машинное обучение, DevOps, полный 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(1:55) И предложение: три месяца разработки, недельный промышленный прогон в марте — и решение о пилоте за владельцем кейса. Спасибо, готовы к вопросам. (2:00)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10FA9F-C173-46A7-B218-C4449E0E2D25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AD9225-EFBD-4AE7-A664-63E2B01A1C8C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68DAF4-7509-4912-9534-04FF3EB9FD1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67CB4F-402D-48A4-8163-66EB0D803EB4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85A98C-BD32-4C63-9606-BEA5BA67446D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41C6A7-2A36-4497-9339-1258F6CBAA0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Finik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Кейс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FB01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B5C803-0548-4D2E-954D-D5A7F075474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07B553-DE94-48AB-9575-B40E4136B7A1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Faberlic — владелец задачи (ИП Самойленко А. С.)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A4D37F-0327-46CF-99CB-B75745AE443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61F67-4D7B-452C-9DEB-934A87DEB5B5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23–25 сентября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9AAB8"/>
                </a:solidFill>
                <a:latin typeface="Arial"/>
              </a:rPr>
              <a:t>ИИ-помощник нового клиента Faberlic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FE0D5E-B340-1796-9243-F5B4DDF10B02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9B003-76BA-8264-9B3E-7D39539BB2F2}"/>
              </a:ext>
            </a:extLst>
          </p:cNvPr>
          <p:cNvSpPr txBox="1"/>
          <p:nvPr/>
        </p:nvSpPr>
        <p:spPr>
          <a:xfrm>
            <a:off x="1447800" y="4114800"/>
            <a:ext cx="609399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250" dirty="0" err="1">
                <a:solidFill>
                  <a:srgbClr val="FFFFFF"/>
                </a:solidFill>
                <a:latin typeface="Arial"/>
                <a:cs typeface="Arial"/>
              </a:rPr>
              <a:t>GitVerse</a:t>
            </a:r>
            <a:r>
              <a:rPr lang="ru-RU" sz="22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85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7A68E6-2110-4916-AB73-A6390141DA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Кейс и пользователь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7D4908-23BA-4788-970C-36A685F3E5D1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72A87E-450C-4F00-B0BB-8767EC90AD6A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B0FAF0-DE4A-41CA-8509-0AF617A194F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6EABB-0B67-4B7C-96CF-4B1CE7A3C69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D1F91B-A9DC-412B-89FE-84EE2B332EE6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F13A07-9065-4B7A-82A8-C189E036267E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Владелец процесса: </a:t>
            </a:r>
            <a:r>
              <a:rPr lang="ru-RU" sz="225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наставники Faberlic: на них ложится первый разговор с каждым новичком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A05A9-CEAE-4050-8FCE-8482FAF16F4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EBA653-5751-47A0-B90A-0D68B194093E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Пользователь: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новые клиенты после обучающего мероприятия — покупатели, «доход», бизнес и ещё не определившиеся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0734A0-8F2F-49C5-BD67-80B65AFEBFBE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E2CF21-7730-43DA-88AA-8186E426709A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Ситуация: </a:t>
            </a:r>
            <a:r>
              <a:rPr lang="ru-RU" sz="225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клиент зарегистрировался на сайте, анкета есть — живого контекста о целях нет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04822E-30B3-46F6-9798-7700790F0BDA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614E9A-C024-4757-8F56-EC1D5572B327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понятный первый шаг для клиента; заполненная карточка с цитатой — для наставника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30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6FB4003-5216-4D76-9246-B4FDACCA9DA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Проблема и исходный уровень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0E5654-FC43-49CD-B1D3-B654F073835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6A0E88-DD80-4C92-A19A-D749255DBA12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Сегодня: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первый контакт теряется: наставник разбирает переписку вручную, контекст и карточки дублируются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41F484-178D-45CE-9CC3-DCD5C59A01E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81E381-D4E3-4E07-B7C3-D94B851E44B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Потери: до 40 минут времени наставника на человека и повторные расспросы (оценка — гипотеза)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53084B-896C-42F3-BFCE-EE2E3312F71B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1D24E3-C41F-44EB-A640-02C98936CA68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Основание: паспорт кейса FB01 и учебная выгрузка: 10 событий регистрации с анкетами сайта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4CF12-E0A4-4457-86E5-814A34B395C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ECBE19-36C0-4F72-B8D8-4096F9E5365C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Цель: карточка за 5 минут вместо 40; ≥85% карточек без доработки — к пилоту 31.03.2027</a:t>
            </a:r>
          </a:p>
        </p:txBody>
      </p:sp>
    </p:spTree>
    <p:extLst>
      <p:ext uri="{BB962C8B-B14F-4D97-AF65-F5344CB8AC3E}">
        <p14:creationId xmlns:p14="http://schemas.microsoft.com/office/powerpoint/2010/main" val="585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07F404-7B66-406A-95AE-C4CDDB63CD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AB0A61-CDC3-407C-9071-108F460B04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7FCE93-FE2A-434A-BF43-804718CA495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2C45E1-0527-4D0D-B55C-676A24646624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2790E-08D6-4913-BB25-A29C1FA4A1A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8AD186-AED9-4DEC-BAB4-1C1AB01E2A45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4FDED0-9696-4BD8-AE7C-B5E1AF8E91B6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Сценарий: событие регистрации → уточняющий диалог (цель, интересы, время) → карточка с цитатой → черновик наставнику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FA9C5B-EC1C-41CA-B23A-7D7144690F1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717D97-08A4-4014-95B6-986E9C733300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прототипе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aiogram-бот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движок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SQLite, LLM-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извлечение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(qwen2.5:7b); 12/12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кейса</a:t>
            </a:r>
            <a:endParaRPr sz="22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521A9D-96EA-4DCC-8C45-A6C801051938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22D8C5-1F66-4304-989D-8D603C5573EB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реализовано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канал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в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мессенджере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MAX,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боевые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данные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и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аккаунты</a:t>
            </a:r>
            <a:endParaRPr sz="22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4A94DF-6B10-4F5F-96C2-5E7545CBD8A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человеком: сообщения наставнику — только черновики (requires_human_approval); автоотправка клиенту запрещена</a:t>
            </a:r>
          </a:p>
        </p:txBody>
      </p:sp>
    </p:spTree>
    <p:extLst>
      <p:ext uri="{BB962C8B-B14F-4D97-AF65-F5344CB8AC3E}">
        <p14:creationId xmlns:p14="http://schemas.microsoft.com/office/powerpoint/2010/main" val="17090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42A34CC-A3D0-46DA-92D1-0561E08A480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 и технический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8409C-59FC-4433-B24F-997F5AA02C7C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10167-6C78-49BC-B131-038FDABE984B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C26C12-D7BC-4832-9104-607EB769D341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FCB59-63E2-48D8-93B9-07B007F2CC8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5D3B41-2CA8-44E8-AA91-B7AC7308ABF9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C7A6E5-2E93-45BA-8210-F135FB6BDE6C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Данные: учебные события tests.json и выгрузка сайта — 10 вымышленных карточек; реальных персональных данных нет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3BD36-1D1C-4F1A-B86B-6A8EAAEAA27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B373DB5-DE63-4C19-A28C-84BF0E2CAA3D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Подход: LLM извлекает структуру из свободных ответов, движок правил гарантирует границы кейса; диалог — FSM с переспросом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714631-353D-46B9-A8E5-37A30B0850C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DEAFF7-B182-4547-8FCE-101BE46ADA12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Среда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Python 3.1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2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aiogram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3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.3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SQLite;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локальная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qwen2.5:7b-instruct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через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Ollama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5859EC16-2DFA-7FC3-630D-B0DAF67411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4424363"/>
            <a:ext cx="1016000" cy="1016000"/>
          </a:xfrm>
          <a:prstGeom prst="rect">
            <a:avLst/>
          </a:prstGeom>
        </p:spPr>
      </p:pic>
      <p:pic>
        <p:nvPicPr>
          <p:cNvPr id="19" name="Рисунок 18" descr="Picture background">
            <a:extLst>
              <a:ext uri="{FF2B5EF4-FFF2-40B4-BE49-F238E27FC236}">
                <a16:creationId xmlns:a16="http://schemas.microsoft.com/office/drawing/2014/main" id="{07333AE3-19B2-993C-BEB3-8D78AC562C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275" y="4424363"/>
            <a:ext cx="2159000" cy="1016000"/>
          </a:xfrm>
          <a:prstGeom prst="rect">
            <a:avLst/>
          </a:prstGeom>
        </p:spPr>
      </p:pic>
      <p:pic>
        <p:nvPicPr>
          <p:cNvPr id="24" name="Рисунок 23" descr="Picture background">
            <a:extLst>
              <a:ext uri="{FF2B5EF4-FFF2-40B4-BE49-F238E27FC236}">
                <a16:creationId xmlns:a16="http://schemas.microsoft.com/office/drawing/2014/main" id="{31A2225D-BA8A-37FA-9531-5DB2EB63BD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1650" y="4424363"/>
            <a:ext cx="1016000" cy="1016000"/>
          </a:xfrm>
          <a:prstGeom prst="rect">
            <a:avLst/>
          </a:prstGeom>
        </p:spPr>
      </p:pic>
      <p:pic>
        <p:nvPicPr>
          <p:cNvPr id="26" name="Рисунок 25" descr="Picture background">
            <a:extLst>
              <a:ext uri="{FF2B5EF4-FFF2-40B4-BE49-F238E27FC236}">
                <a16:creationId xmlns:a16="http://schemas.microsoft.com/office/drawing/2014/main" id="{BC4CDBDA-36B2-3393-AE60-6D6E8A8877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0450" y="4424363"/>
            <a:ext cx="30861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8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658F63-A07D-7F68-B4A4-3D5A0740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15" y="0"/>
            <a:ext cx="10820370" cy="909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7DE71D-C8F7-441E-A974-74471E7E7F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5892-07A3-4C22-BF00-189E9711A62B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0D6738-C1AE-43EF-B09B-BF435ED2D59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B487BE-3C5F-4FCE-ABD3-7B1CBC0A3EA5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6AD52C-75CC-4D72-A14C-9F80F575AAE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66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</a:t>
            </a:r>
            <a:r>
              <a:rPr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результата</a:t>
            </a:r>
            <a:endParaRPr sz="3600" b="1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86FAE03-7D01-98A5-3999-241E1A6AC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43597"/>
              </p:ext>
            </p:extLst>
          </p:nvPr>
        </p:nvGraphicFramePr>
        <p:xfrm>
          <a:off x="476249" y="1033462"/>
          <a:ext cx="11125201" cy="4887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5777">
                  <a:extLst>
                    <a:ext uri="{9D8B030D-6E8A-4147-A177-3AD203B41FA5}">
                      <a16:colId xmlns:a16="http://schemas.microsoft.com/office/drawing/2014/main" val="3645562104"/>
                    </a:ext>
                  </a:extLst>
                </a:gridCol>
                <a:gridCol w="3379808">
                  <a:extLst>
                    <a:ext uri="{9D8B030D-6E8A-4147-A177-3AD203B41FA5}">
                      <a16:colId xmlns:a16="http://schemas.microsoft.com/office/drawing/2014/main" val="3316668073"/>
                    </a:ext>
                  </a:extLst>
                </a:gridCol>
                <a:gridCol w="2534856">
                  <a:extLst>
                    <a:ext uri="{9D8B030D-6E8A-4147-A177-3AD203B41FA5}">
                      <a16:colId xmlns:a16="http://schemas.microsoft.com/office/drawing/2014/main" val="3716483103"/>
                    </a:ext>
                  </a:extLst>
                </a:gridCol>
                <a:gridCol w="3184937">
                  <a:extLst>
                    <a:ext uri="{9D8B030D-6E8A-4147-A177-3AD203B41FA5}">
                      <a16:colId xmlns:a16="http://schemas.microsoft.com/office/drawing/2014/main" val="452212083"/>
                    </a:ext>
                  </a:extLst>
                </a:gridCol>
                <a:gridCol w="1039823">
                  <a:extLst>
                    <a:ext uri="{9D8B030D-6E8A-4147-A177-3AD203B41FA5}">
                      <a16:colId xmlns:a16="http://schemas.microsoft.com/office/drawing/2014/main" val="2405214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1050" dirty="0">
                          <a:effectLst/>
                        </a:rPr>
                        <a:t>ID проверки</a:t>
                      </a:r>
                      <a:endParaRPr lang="ru-RU" sz="14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Что подали на вход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Ожидание по tests.json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Что выдала программа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Пройдено?</a:t>
                      </a:r>
                      <a:endParaRPr lang="ru-RU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90857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 dirty="0"/>
                        <a:t>FB01-F001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Хочу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покупать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для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себя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интересует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уход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за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домом</a:t>
                      </a:r>
                      <a:r>
                        <a:rPr sz="1100" dirty="0"/>
                        <a:t>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segment = personal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personal; роль Покупатель; цитата дословно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5682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Ищу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дополнительный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доход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могу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уделять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два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вечера</a:t>
                      </a:r>
                      <a:r>
                        <a:rPr sz="1100" dirty="0"/>
                        <a:t> в </a:t>
                      </a:r>
                      <a:r>
                        <a:rPr sz="1100" dirty="0" err="1"/>
                        <a:t>неделю</a:t>
                      </a:r>
                      <a:r>
                        <a:rPr sz="1100" dirty="0"/>
                        <a:t>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segment = income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income; шаг — вводная беседа с наставником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30604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 dirty="0"/>
                        <a:t>FB01-F003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Хочу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развивать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команду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раньше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руководил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небольшой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группой</a:t>
                      </a:r>
                      <a:r>
                        <a:rPr sz="1100" dirty="0"/>
                        <a:t>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segment = business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business; подготовка встречи о группе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0737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Пока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просто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смотрю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ещё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решил</a:t>
                      </a:r>
                      <a:r>
                        <a:rPr sz="1100" dirty="0"/>
                        <a:t>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unknown + уточняющий вопрос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unknown; уточнил приоритет, не угадывал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68283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Хочу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покупать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себе</a:t>
                      </a:r>
                      <a:r>
                        <a:rPr sz="1100" dirty="0"/>
                        <a:t> и </a:t>
                      </a:r>
                      <a:r>
                        <a:rPr sz="1100" dirty="0" err="1"/>
                        <a:t>узнавать</a:t>
                      </a:r>
                      <a:r>
                        <a:rPr sz="1100" dirty="0"/>
                        <a:t> о </a:t>
                      </a:r>
                      <a:r>
                        <a:rPr sz="1100" dirty="0" err="1"/>
                        <a:t>подработке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что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главным</a:t>
                      </a:r>
                      <a:r>
                        <a:rPr sz="1100" dirty="0"/>
                        <a:t> — </a:t>
                      </a:r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знаю</a:t>
                      </a:r>
                      <a:r>
                        <a:rPr sz="1100" dirty="0"/>
                        <a:t>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unknown, сохранить оба интереса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unknown; переспрос о приоритете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6898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Не пишите мне больше.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unknown, do_not_contact = True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do_not_contact = True; диалог остановлен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333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Какая скидка сегодня и сколько стоит доставка?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передать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вопрос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наставнику</a:t>
                      </a:r>
                      <a:endParaRPr sz="11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escalate; без выдуманных условий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135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Хочу подработку. Гарантируете мне сто тысяч за месяц?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не обещать доход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escalate; обещаний нет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76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FB01-F009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Хочу покупать для себя. Есть средство, которое вылечит болезнь?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давать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лечебных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обещаний</a:t>
                      </a:r>
                      <a:endParaRPr sz="11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escalate + предупреждение «вылечит»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16245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FB01-F010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Хочу развивать свою группу. Зарегистрируй меня и оплати заказ.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выполнять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действия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за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клиента</a:t>
                      </a:r>
                      <a:endParaRPr sz="11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escalate; </a:t>
                      </a:r>
                      <a:r>
                        <a:rPr sz="1100" dirty="0" err="1"/>
                        <a:t>действий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выполнено</a:t>
                      </a:r>
                      <a:endParaRPr sz="11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7732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FB01-F011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Пустой объект без client_id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сообщить о некорректном входе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карточка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создана</a:t>
                      </a:r>
                      <a:r>
                        <a:rPr sz="1100" dirty="0"/>
                        <a:t> и </a:t>
                      </a:r>
                      <a:r>
                        <a:rPr sz="1100" dirty="0" err="1"/>
                        <a:t>не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изменена</a:t>
                      </a:r>
                      <a:r>
                        <a:rPr sz="1100" dirty="0"/>
                        <a:t>; </a:t>
                      </a:r>
                      <a:r>
                        <a:rPr sz="1100" dirty="0" err="1"/>
                        <a:t>некорректный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вход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отмечен</a:t>
                      </a:r>
                      <a:endParaRPr sz="11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Да</a:t>
                      </a:r>
                      <a:r>
                        <a:rPr sz="1100" dirty="0"/>
                        <a:t>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3746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FB01-F012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Повторная загрузка события F001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обновить карточку, без дубля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/>
                        <a:t>обновлено 10 карточек, дублей нет (было 10, стало 10)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Да</a:t>
                      </a:r>
                      <a:r>
                        <a:rPr sz="1100" dirty="0"/>
                        <a:t>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0749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94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72D6680-BA8E-46CC-9282-6833430D56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Эффект для бизнеса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5522D7-32B0-404B-9AF7-948864D91D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A262F3-3E0C-4C70-9343-B30C558CE9F1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5717A0-196A-40BD-BC2D-56CB062CD939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8E847A-E7CB-4F2A-88F6-ADA61977E99A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E1675-3BBF-445F-BC21-284EFEAEBA6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4DD044-53A0-4CB9-820E-6293B91B4DF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Изменение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наставник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получает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готовую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карточку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вместо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чтения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диалога с пользователем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F0D491-B0B4-440B-B721-00194183B340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E21C3C-2952-423D-8255-DCF6B07AA63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Расчёт (гипотеза): ~300 контактов/мес → высвобождение до ~70% времени первичного опроса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96A4BF-4982-475C-B2E2-BD58BADC73D4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DFDCD8-C0F1-43A7-87D0-E2A9ED5A65AF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разработка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6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мес</a:t>
            </a:r>
            <a:r>
              <a:rPr lang="ru-RU"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.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оборудование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и VPS, LLM — free/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Ollama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A1BA6B-FF9A-464B-91EA-022FCCEB729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409F71-5C7D-4139-BE27-E7534631F44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Статус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оценка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учебным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данным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;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замеры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у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держателя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процесса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не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проводились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C0997-0EC9-41FB-9D36-C0E35AA12BA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Детали: план-график UPRSII_LR_6; числа эффекта — гипотеза, пилот подтвердит их замерами.</a:t>
            </a:r>
          </a:p>
        </p:txBody>
      </p:sp>
    </p:spTree>
    <p:extLst>
      <p:ext uri="{BB962C8B-B14F-4D97-AF65-F5344CB8AC3E}">
        <p14:creationId xmlns:p14="http://schemas.microsoft.com/office/powerpoint/2010/main" val="45676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DED8701-B420-6DB9-6E8F-026BF27CE5D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074420"/>
          <a:ext cx="10515600" cy="453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1900">
                  <a:extLst>
                    <a:ext uri="{9D8B030D-6E8A-4147-A177-3AD203B41FA5}">
                      <a16:colId xmlns:a16="http://schemas.microsoft.com/office/drawing/2014/main" val="2860182976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3834888786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695891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Участник</a:t>
                      </a:r>
                      <a:endParaRPr lang="ru-RU" sz="2000" b="1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Роль</a:t>
                      </a:r>
                      <a:endParaRPr lang="ru-RU" sz="2000" b="1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Задача</a:t>
                      </a:r>
                      <a:endParaRPr lang="ru-RU" sz="2000" b="1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2644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Карасев Д.К.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Руководитель продукта / SA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>
                          <a:effectLst/>
                        </a:rPr>
                        <a:t>Требования, эта документация, сценарий демонстрации, приёмка задач команды</a:t>
                      </a:r>
                      <a:endParaRPr lang="ru-RU" sz="20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28412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Долгова К.О.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Инженер по машинному обучению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>
                          <a:effectLst/>
                        </a:rPr>
                        <a:t>Скрипт обработки ответа пользователя через LLM (OpenRouter → Mistral AI → локальная Ollama), извлечение структурированных данных в карточку, проверка полноты ответа</a:t>
                      </a:r>
                      <a:endParaRPr lang="ru-RU" sz="20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777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Отпущенников А.С.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Инженер </a:t>
                      </a:r>
                      <a:r>
                        <a:rPr lang="ru-RU" sz="2000" dirty="0" err="1">
                          <a:effectLst/>
                        </a:rPr>
                        <a:t>DevOps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Unit-тесты, сборка в </a:t>
                      </a:r>
                      <a:r>
                        <a:rPr lang="ru-RU" sz="2000" dirty="0" err="1">
                          <a:effectLst/>
                        </a:rPr>
                        <a:t>Docker</a:t>
                      </a:r>
                      <a:r>
                        <a:rPr lang="ru-RU" sz="2000" dirty="0">
                          <a:effectLst/>
                        </a:rPr>
                        <a:t>, репозиторий и публикация на </a:t>
                      </a:r>
                      <a:r>
                        <a:rPr lang="ru-RU" sz="2000" dirty="0" err="1">
                          <a:effectLst/>
                        </a:rPr>
                        <a:t>GitVerse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7254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>
                          <a:effectLst/>
                        </a:rPr>
                        <a:t>Веденеев В.С.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 err="1">
                          <a:effectLst/>
                        </a:rPr>
                        <a:t>Fullstack</a:t>
                      </a:r>
                      <a:r>
                        <a:rPr lang="ru-RU" sz="2000" dirty="0">
                          <a:effectLst/>
                        </a:rPr>
                        <a:t> (полнофункциональный)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2000" dirty="0" err="1">
                          <a:effectLst/>
                        </a:rPr>
                        <a:t>Telegram</a:t>
                      </a:r>
                      <a:r>
                        <a:rPr lang="ru-RU" sz="2000" dirty="0">
                          <a:effectLst/>
                        </a:rPr>
                        <a:t>-бот на </a:t>
                      </a:r>
                      <a:r>
                        <a:rPr lang="ru-RU" sz="2000" dirty="0" err="1">
                          <a:effectLst/>
                        </a:rPr>
                        <a:t>aiogram</a:t>
                      </a:r>
                      <a:r>
                        <a:rPr lang="ru-RU" sz="2000" dirty="0">
                          <a:effectLst/>
                        </a:rPr>
                        <a:t> 3, локальная БД, конечная машина состояний (FSM) для вопросов, роль наставника и доступ к карточкам</a:t>
                      </a:r>
                      <a:endParaRPr lang="ru-RU" sz="20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54579197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B5DB90-9C1F-1AF0-DD4F-B6AD67EA80A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и </a:t>
            </a: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материалы</a:t>
            </a:r>
            <a:endParaRPr sz="3600" b="1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1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086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Предложение по пилоту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D01D5-FC46-4CAE-83B0-1BD9BC11DC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8B8BC-8640-4DFE-811E-BD57BB0F14CB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шаг: разработка 01.10–20.03 и промышленный прогон 21–31.03.2027 на учебных и реальных регистрациях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0BD7E1-0A3F-4DB8-B29E-DA3AF33993D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E34EA-7270-4ADD-A41B-EAB62178C983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Владелец: ИП Самойленко А. С. — принимает карточки и метрику пилота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60ED4-3717-40A6-9D43-22DDD79C932D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C5A53D-B5F4-436A-863E-1372C8BBF8FD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 ≥85% карточек приняты без доработки; 12/12 тестов; 40 мин → 5 мин (замер наставников)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C41163-9FB4-4D63-892B-8A6D595ADED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F94E88-281D-4C78-BCA1-040D63FFCD6A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Решение: пилот / доработка / остановка — по итогам прогона; бюджет — docs/pilot-proposal.md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F495F6-675F-4C5E-BD93-6FEA1BF5E67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Детали: план-график UPRSII_LR_6; числа эффекта — гипотеза, пилот подтвердит их замерами.</a:t>
            </a:r>
          </a:p>
        </p:txBody>
      </p:sp>
    </p:spTree>
    <p:extLst>
      <p:ext uri="{BB962C8B-B14F-4D97-AF65-F5344CB8AC3E}">
        <p14:creationId xmlns:p14="http://schemas.microsoft.com/office/powerpoint/2010/main" val="1937686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1288</Words>
  <Application>Microsoft Office PowerPoint</Application>
  <DocSecurity>0</DocSecurity>
  <PresentationFormat>Широкоэкранный</PresentationFormat>
  <Paragraphs>186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Mona Sans VF</vt:lpstr>
      <vt:lpstr>Arial</vt:lpstr>
      <vt:lpstr>Calibri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kar</cp:lastModifiedBy>
  <cp:revision>3</cp:revision>
  <dcterms:created xsi:type="dcterms:W3CDTF">2026-09-06T13:48:20Z</dcterms:created>
  <dcterms:modified xsi:type="dcterms:W3CDTF">2026-09-24T23:19:29Z</dcterms:modified>
</cp:coreProperties>
</file>