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7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(0:00) Добрый день, команда Finik, кейс FB01. После обучающего мероприятия человек регистрируется на сайте Faberlic — и на этом первый контакт обычно гаснет: наставник физически не успевает поговорить со всеми.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(0:10) Мы возвращаем этому разговору форму: помощник сам ведёт с новичком короткую беседу и отдаёт наставнику не пустую строку, а карточку со словами самого клиента.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(0:20) Сегодня наставник разбирает переписку вручную — минуты, контекст теряется. Мы ставим цель: пять минут вместо сорока и 85% карточек, принятых без доработки. Цифры честные: это гипотеза, которую замерит пилот.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(0:35) Решение одно и законченное: событие регистрации, уточняющий диалог о цели и интересах, карточка с цитатой, черновик наставнику. Границы не прячем: MAX не освоили, за клиента не регистрируемся и не платим, доход и лечение не обещаем. И главное — автоотправки нет: каждое сообщение человеку отправляет наставник.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(0:55) Внутри — aiogram-бот, база SQLite и локальная модель qwen2.5: большая модель извлекает смысл из свободных ответов, а правила держат границы кейса. Всё поднимается без облачных ключей.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(1:10) Показываем живьём: вот клиент пишет «ищу подработку, могу два вечера в неделю» — вот карточка: сегмент, цитата, следующий шаг, и черновик для наставника готов. Если живое падает — сразу резервное видео без пауз.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(1:30) Красивому демо мы не верим — верим прогонам: контур собран, 172 автоматические проверки, ноль отказов, все двенадцать тестов кейса зелёные.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(1:45) Эффект — гипотеза: 40 минут в 5, около 300 контактов в месяц. На пилоте превратим оценку в замер.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(1:50) Команда — четыре человека, всё лежит в репозитории и запускается двумя командами.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(1:55) И предложение: три месяца разработки, недельный промышленный прогон в марте — и решение о пилоте за владельцем кейса. Спасибо, готовы к вопросам. (2:00)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(запас, если спрашивают) Вот полная таблица проверок: вход, ожидание, фактическая выдача по каждому из 12 тестов — все зелёные.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A10FA9F-C173-46A7-B218-C4449E0E2D25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2AD9225-EFBD-4AE7-A664-63E2B01A1C8C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868DAF4-7509-4912-9534-04FF3EB9FD1B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E67CB4F-402D-48A4-8163-66EB0D803EB4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785A98C-BD32-4C63-9606-BEA5BA67446D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F41C6A7-2A36-4497-9339-1258F6CBAA09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Команда Finik · Кейс FB01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EB5C803-0548-4D2E-954D-D5A7F075474B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807B553-DE94-48AB-9575-B40E4136B7A1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Faberlic — владелец задачи (ИП Самойленко А. С.)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1A4D37F-0327-46CF-99CB-B75745AE443A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61F67-4D7B-452C-9DEB-934A87DEB5B5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23–25 сентября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431800"/>
            <a:ext cx="10858500" cy="119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9AAB8"/>
                </a:solidFill>
                <a:latin typeface="Arial"/>
              </a:rPr>
              <a:t>ИИ-помощник нового клиента Faberlic</a:t>
            </a:r>
          </a:p>
        </p:txBody>
      </p:sp>
    </p:spTree>
    <p:extLst>
      <p:ext uri="{BB962C8B-B14F-4D97-AF65-F5344CB8AC3E}">
        <p14:creationId xmlns:p14="http://schemas.microsoft.com/office/powerpoint/2010/main" val="382857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E7A68E6-2110-4916-AB73-A6390141DAB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Кейс и пользователь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17D4908-23BA-4788-970C-36A685F3E5D1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D72A87E-450C-4F00-B0BB-8767EC90AD6A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6B0FAF0-DE4A-41CA-8509-0AF617A194F6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FF6EABB-0B67-4B7C-96CF-4B1CE7A3C690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0D1F91B-A9DC-412B-89FE-84EE2B332EE6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FF13A07-9065-4B7A-82A8-C189E036267E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Владелец процесса: </a:t>
            </a:r>
            <a:r>
              <a:rPr lang="ru-RU" sz="225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наставники Faberlic: на них ложится первый разговор с каждым новичком</a:t>
            </a:r>
            <a:endParaRPr sz="2250" b="0" dirty="0">
              <a:solidFill>
                <a:srgbClr val="05284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A6A05A9-CEAE-4050-8FCE-8482FAF16F4C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CEBA653-5751-47A0-B90A-0D68B194093E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Пользователь: </a:t>
            </a:r>
            <a:r>
              <a:rPr lang="ru-RU"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новые клиенты после обучающего мероприятия — покупатели, «доход», бизнес и ещё не определившиеся</a:t>
            </a:r>
            <a:endParaRPr sz="2250" b="0" dirty="0">
              <a:solidFill>
                <a:srgbClr val="05284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30734A0-8F2F-49C5-BD67-80B65AFEBFBE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2E2CF21-7730-43DA-88AA-8186E426709A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Ситуация: </a:t>
            </a:r>
            <a:r>
              <a:rPr lang="ru-RU" sz="225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клиент зарегистрировался на сайте, анкета есть — живого контекста о целях нет</a:t>
            </a:r>
            <a:endParaRPr sz="2250" b="0" dirty="0">
              <a:solidFill>
                <a:srgbClr val="05284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204822E-30B3-46F6-9798-7700790F0BDA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4614E9A-C024-4757-8F56-EC1D5572B327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Результат: </a:t>
            </a:r>
            <a:r>
              <a:rPr lang="ru-RU"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понятный первый шаг для клиента; заполненная карточка с цитатой — для наставника</a:t>
            </a:r>
            <a:endParaRPr sz="2250" b="0" dirty="0">
              <a:solidFill>
                <a:srgbClr val="052849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3075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6FB4003-5216-4D76-9246-B4FDACCA9DAE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Проблема и исходный уровень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A5927EA-9F24-43A9-9086-7A086598A766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A1DBC29-4E42-4528-82EA-2982292B4226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1A7A0D4-EE9C-4537-85E2-1B646FACFFB6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01A88B0-AD57-4B69-BEE5-A74DD8EF4DD9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F0E5654-FC43-49CD-B1D3-B654F073835F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06A0E88-DD80-4C92-A19A-D749255DBA12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Сегодня: </a:t>
            </a:r>
            <a:r>
              <a:rPr lang="ru-RU"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первый контакт теряется: наставник разбирает переписку вручную, контекст и карточки дублируются</a:t>
            </a:r>
            <a:endParaRPr sz="2250" b="0" dirty="0">
              <a:solidFill>
                <a:srgbClr val="05284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D41F484-178D-45CE-9CC3-DCD5C59A01EC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181E381-D4E3-4E07-B7C3-D94B851E44B2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Потери: до 40 минут времени наставника на человека и повторные расспросы (оценка — гипотеза)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C53084B-896C-42F3-BFCE-EE2E3312F71B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91D24E3-C41F-44EB-A640-02C98936CA68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Основание: паспорт кейса FB01 и учебная выгрузка: 10 событий регистрации с анкетами сайта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3C4CF12-E0A4-4457-86E5-814A34B395C7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CECBE19-36C0-4F72-B8D8-4096F9E5365C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Цель: карточка за 5 минут вместо 40; ≥85% карточек без доработки — к пилоту 31.03.2027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CB2CFFB-64C9-4281-B86D-45A0D238ECD3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Числа 40 и 5 минут — гипотеза команды; замер подтвердит владелец процесса на пилоте.</a:t>
            </a:r>
          </a:p>
        </p:txBody>
      </p:sp>
    </p:spTree>
    <p:extLst>
      <p:ext uri="{BB962C8B-B14F-4D97-AF65-F5344CB8AC3E}">
        <p14:creationId xmlns:p14="http://schemas.microsoft.com/office/powerpoint/2010/main" val="585801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207F404-7B66-406A-95AE-C4CDDB63CD1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Решение и границы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3AB0A61-CDC3-407C-9071-108F460B046E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17FCE93-FE2A-434A-BF43-804718CA4958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2C45E1-0527-4D0D-B55C-676A24646624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D42790E-08D6-4913-BB25-A29C1FA4A1A8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48AD186-AED9-4DEC-BAB4-1C1AB01E2A45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54FDED0-9696-4BD8-AE7C-B5E1AF8E91B6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Сценарий: событие регистрации → уточняющий диалог (цель, интересы, время) → карточка с цитатой → черновик наставнику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1FA9C5B-EC1C-41CA-B23A-7D7144690F1D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2717D97-08A4-4014-95B6-986E9C733300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 прототипе: aiogram-бот + движок правил + SQLite, LLM-извлечение (qwen2.5:7b); 12/12 тестов кейса — 172/172 проверок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8521A9D-96EA-4DCC-8C45-A6C801051938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122D8C5-1F66-4304-989D-8D603C5573EB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Пока не реализовано: канал в мессенджере MAX, боевые данные и аккаунты, действия за клиента (регистрация, оплата)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94A94DF-6B10-4F5F-96C2-5E7545CBD8A7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79CA8D2-6EE7-4498-AB49-451004E1D069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Контроль человеком: сообщения наставнику — только черновики (requires_human_approval); автоотправка клиенту запрещена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7FFFBAF-75F3-48EC-A579-6FB378119BEF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D4E5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5EA"/>
                </a:solidFill>
                <a:latin typeface="Arial"/>
                <a:ea typeface="Arial"/>
                <a:cs typeface="Arial"/>
              </a:rPr>
              <a:t>Помощник не обещает доход и лечебные свойства, не выдумывает акции; один законченный сценарий показан в демо.</a:t>
            </a:r>
          </a:p>
        </p:txBody>
      </p:sp>
    </p:spTree>
    <p:extLst>
      <p:ext uri="{BB962C8B-B14F-4D97-AF65-F5344CB8AC3E}">
        <p14:creationId xmlns:p14="http://schemas.microsoft.com/office/powerpoint/2010/main" val="1709024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42A34CC-A3D0-46DA-92D1-0561E08A480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Данные и технический подход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D48409C-59FC-4433-B24F-997F5AA02C7C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2E10167-6C78-49BC-B131-038FDABE984B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1C26C12-D7BC-4832-9104-607EB769D341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78FCB59-63E2-48D8-93B9-07B007F2CC80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C5D3B41-2CA8-44E8-AA91-B7AC7308ABF9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3C7A6E5-2E93-45BA-8210-F135FB6BDE6C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Данные: учебные события tests.json и выгрузка сайта — 10 вымышленных карточек; реальных персональных данных нет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1D3BD36-1D1C-4F1A-B86B-6A8EAAEAA278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B373DB5-DE63-4C19-A28C-84BF0E2CAA3D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Подход: LLM извлекает структуру из свободных ответов, движок правил гарантирует границы кейса; диалог — FSM с переспросом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0714631-353D-46B9-A8E5-37A30B0850CC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ADEAFF7-B182-4547-8FCE-101BE46ADA12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Среда: Python 3.11, aiogram 3, SQLite; локальная модель qwen2.5:7b-instruct через Ollama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AA8FD0D-7901-46E1-AF5A-FE5F2414AF95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842A003-EB83-4E73-BDB6-CFDD04A0D6FD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Ограничения: локальная 7B-модель слабее облачной; API MAX нестабильны; ключи — только в .env вне репозитория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ED9D203-33EF-4FD2-9609-8133684BDFB2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Данные вымышленные, реальных персональных данных нет; токены и ключи в слайдах не показываются.</a:t>
            </a:r>
          </a:p>
        </p:txBody>
      </p:sp>
    </p:spTree>
    <p:extLst>
      <p:ext uri="{BB962C8B-B14F-4D97-AF65-F5344CB8AC3E}">
        <p14:creationId xmlns:p14="http://schemas.microsoft.com/office/powerpoint/2010/main" val="1973184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97DE71D-C8F7-441E-A974-74471E7E7FCB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Демонстрация прототипа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9325892-07A3-4C22-BF00-189E9711A62B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E0D6738-C1AE-43EF-B09B-BF435ED2D592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AB487BE-3C5F-4FCE-ABD3-7B1CBC0A3EA5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D6AD52C-75CC-4D72-A14C-9F80F575AAE9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77160DE-62AB-4D44-BBAC-217148B55954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7324CF7-5CDA-4359-B313-DA58469B7059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6096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Сценарий демо: F002 → «доход» → карточка с evidence и next_action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37FCB1F-C889-4200-AE9D-E2C415BD4ACB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A5EB6C5-32E5-4FCF-89D4-34A076F6BE5C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6096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Вход: учебное событие регистрации + свободный ответ клиента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47A585D-F4B5-4D6A-9431-C425F1F18A2A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40A64E1-4116-462E-B8A4-8737CD459B9C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6096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Выход: карточка и черновик сообщения наставнику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0B9654F-734E-4C36-A088-5CEBAEDBBE39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827AD62-ACA3-4FDF-822C-B57D9D17CFEF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6096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Резерв: 2-минутное видео прогона — в репозитории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281FF8D-EF85-4711-86E3-FCE486F23FE2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D4E5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5EA"/>
                </a:solidFill>
                <a:latin typeface="Arial"/>
                <a:ea typeface="Arial"/>
                <a:cs typeface="Arial"/>
              </a:rPr>
              <a:t>Тот же сценарий воспроизводится в сданной версии: python app.py + scripts/run_tests.py.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74000" y="1905000"/>
            <a:ext cx="3810000" cy="2921000"/>
          </a:xfrm>
          <a:prstGeom prst="rect">
            <a:avLst/>
          </a:prstGeom>
          <a:solidFill>
            <a:srgbClr val="F2F2F2"/>
          </a:solidFill>
          <a:ln>
            <a:solidFill>
              <a:srgbClr val="9AA5B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9AA5B1"/>
                </a:solidFill>
              </a:rPr>
              <a:t>Скриншот рабочего сценария — вставить</a:t>
            </a:r>
          </a:p>
        </p:txBody>
      </p:sp>
    </p:spTree>
    <p:extLst>
      <p:ext uri="{BB962C8B-B14F-4D97-AF65-F5344CB8AC3E}">
        <p14:creationId xmlns:p14="http://schemas.microsoft.com/office/powerpoint/2010/main" val="83668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BFB8A71-0D31-4A9B-89CD-5DADB90BA65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Проверка результата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C48568B-A510-4C07-9095-5B305366D66E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438A521-E617-465A-8D16-3F6A09D218A2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37E4E6B-ADE4-4FC6-ACE8-445E9DFFD39B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364C2C6-EB1D-489B-9B3D-645FBB2BD8A5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8D7BC41-8165-4C64-9376-5DF84BFD79C2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5979586-0666-4FFA-9F77-64B1D30D70C7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Метрика: доля пройденных проверок tests.json (12) и точность сегментации на 10 примерах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9C3B07-5C4A-4B15-B837-886EFC397777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3FA6E90-2567-4D42-937E-EEA5D461194C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Базовый способ: ручной разбор переписки — контекст теряется, карточки дублируются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6CF598F-97B8-45B8-BA73-117A1E428F15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D40E7AA-576B-4003-A0F5-869023334030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Наш прототип: контур собран: 172/172 проверок, 12/12 тестов; LLM-линия qwen2.5:7b — 10/10 кейсов и 21/21 перефраз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E15090C-0C55-41D1-8BED-66939D2CA403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2A8D848-C69B-4842-A510-3CA86684D1A6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Ошибки: на спорных целях LLM чаще переспрашивает; краевые F006–F009 проходят с предупреждениями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98B1674-AE63-4E45-B0B2-57BF36B2BA58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Таблица проверок — в репозитории: bot_fullstack/results/FB01_Проверки.md (прогон 24.09, 22:31) и на слайде 11.</a:t>
            </a:r>
          </a:p>
        </p:txBody>
      </p:sp>
    </p:spTree>
    <p:extLst>
      <p:ext uri="{BB962C8B-B14F-4D97-AF65-F5344CB8AC3E}">
        <p14:creationId xmlns:p14="http://schemas.microsoft.com/office/powerpoint/2010/main" val="1873944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72D6680-BA8E-46CC-9282-6833430D56C7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Эффект для бизнеса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45522D7-32B0-404B-9AF7-948864D91D66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A262F3-3E0C-4C70-9343-B30C558CE9F1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25717A0-196A-40BD-BC2D-56CB062CD939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E8E847A-E7CB-4F2A-88F6-ADA61977E99A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3FE1675-3BBF-445F-BC21-284EFEAEBA61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94DD044-53A0-4CB9-820E-6293B91B4DF7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Изменение: первичный разбор новичка: вместо ручного чтения переписки — готовая карточка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5F0D491-B0B4-440B-B721-00194183B340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1E21C3C-2952-423D-8255-DCF6B07AA632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Расчёт: 40 мин → 5 мин на карточку; ~300 контактов в месяц — гипотезы, проверим на пилоте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D96A4BF-4982-475C-B2E2-BD58BADC73D4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EDFDCD8-C0F1-43A7-87D0-E2A9ED5A65AF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Затраты: разработка 01.10.2026–31.03.2027 — 4 996 802,80 ₽ с НДС; поддержка — 1 SA и проверка наставниками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3A1BA6B-FF9A-464B-91EA-022FCCEB7297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9409F71-5C7D-4139-BE27-E7534631F446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Статус: гипотеза: эффект вживую не замерялся, числа — оценка команды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8CC0997-0EC9-41FB-9D36-C0E35AA12BAC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Допущения и критерии приёмки — в предложении по пилоту: docs/pilot-proposal.md в репозитории.</a:t>
            </a:r>
          </a:p>
        </p:txBody>
      </p:sp>
    </p:spTree>
    <p:extLst>
      <p:ext uri="{BB962C8B-B14F-4D97-AF65-F5344CB8AC3E}">
        <p14:creationId xmlns:p14="http://schemas.microsoft.com/office/powerpoint/2010/main" val="229999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07995D8-6458-459D-AD1F-A61CB40C4B24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Команда и материалы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D8A099-1293-4BAF-B6D9-527FA719303E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0B9A644-BBF8-4C4F-964E-77DCFE215946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148C3C2-FB22-4D64-BDF0-A1C7A0764C28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D98EF44-9DFE-48A2-8FC7-9A8739897DBD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D031292-020E-4803-BAD1-DE5753D030B2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BFF7875-8182-47F5-87A9-880F73F28413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Роли: Карасев Д. — продукт/SA; Долгова К. — ML; Отпущенников А. — DevOps; Веденеев В. — fullstack-контур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335921A-1831-46BB-ACBD-98281BCBC9F8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411E88C-BDD7-4583-84AE-60933DBC1EAC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GitVerse: сдача до 25.09, 09:00; рабочий репозиторий — github.com/KaDyK736/FinikTeam-FB01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F70F542-6C02-4376-9F3B-BB300636F19C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96FA34A-37E1-4F27-905B-2E17FA190851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Запуск: .env из .env.example → python app.py (локально Ollama с qwen2.5:7b-instruct)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B6F9F9C-CB4C-454F-8B2A-9D3A5F996FFE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FB24CBB-2F3A-42A7-9D77-C215263B1848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Проверка: scripts/run_tests.py и run_paraphrases.py; собранный контур — bot_fullstack, 172 проверок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16FA87D-0660-4D1C-9AEA-4F75B4614ACE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Команда готова продолжать внедрение на пилоте; доступ к репозиторию открыт жюри.</a:t>
            </a:r>
          </a:p>
        </p:txBody>
      </p:sp>
    </p:spTree>
    <p:extLst>
      <p:ext uri="{BB962C8B-B14F-4D97-AF65-F5344CB8AC3E}">
        <p14:creationId xmlns:p14="http://schemas.microsoft.com/office/powerpoint/2010/main" val="426863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92ECB55-29B1-444A-B441-0ADFC8C279BF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Предложение по пилоту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EFB3606-C2EB-4612-8146-1768DD1389CF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E5AB75-F08B-4814-8423-FA43A647EA56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BB27BF-99A4-453E-851E-467B7686C5CF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6CB9FD8-65D1-4A08-B381-6FC1FF4F5F20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3FD01D5-FC46-4CAE-83B0-1BD9BC11DC6F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A88B8BC-8640-4DFE-811E-BD57BB0F14CB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Первый шаг: разработка 01.10–20.03 и промышленный прогон 21–31.03.2027 на учебных и реальных регистрациях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00BD7E1-0A3F-4DB8-B29E-DA3AF33993DB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F5E34EA-7270-4ADD-A41B-EAB62178C983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Владелец: ИП Самойленко А. С. — принимает карточки и метрику пилота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2360ED4-3717-40A6-9D43-22DDD79C932D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2C5A53D-B5F4-436A-863E-1372C8BBF8FD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Успех: ≥85% карточек приняты без доработки; 12/12 тестов; 40 мин → 5 мин (замер наставников)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3C41163-9FB4-4D63-892B-8A6D595ADED4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7F94E88-281D-4C78-BCA1-040D63FFCD6A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Решение: пилот / доработка / остановка — по итогам прогона; бюджет — docs/pilot-proposal.md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2F495F6-675F-4C5E-BD93-6FEA1BF5E673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D4E5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5EA"/>
                </a:solidFill>
                <a:latin typeface="Arial"/>
                <a:ea typeface="Arial"/>
                <a:cs typeface="Arial"/>
              </a:rPr>
              <a:t>Ресурсы, срок и условия остановки зафиксированы в предложении по пилоту (docs/pilot-proposal.md).</a:t>
            </a:r>
          </a:p>
        </p:txBody>
      </p:sp>
    </p:spTree>
    <p:extLst>
      <p:ext uri="{BB962C8B-B14F-4D97-AF65-F5344CB8AC3E}">
        <p14:creationId xmlns:p14="http://schemas.microsoft.com/office/powerpoint/2010/main" val="1937686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BFB8A71-0D31-4A9B-89CD-5DADB90BA65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Приложение: таблица проверок tests.json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C48568B-A510-4C07-9095-5B305366D66E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438A521-E617-465A-8D16-3F6A09D218A2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37E4E6B-ADE4-4FC6-ACE8-445E9DFFD39B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364C2C6-EB1D-489B-9B3D-645FBB2BD8A5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98B1674-AE63-4E45-B0B2-57BF36B2BA58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Полный лог прогона: bot_fullstack/results/FB01_Проверки.md — 172 проверок, 0 отказов (24.09, 22:31)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CCA39C7-E68A-AC7A-3B67-1FF710A56A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859174"/>
              </p:ext>
            </p:extLst>
          </p:nvPr>
        </p:nvGraphicFramePr>
        <p:xfrm>
          <a:off x="609600" y="1549400"/>
          <a:ext cx="11125201" cy="2971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737676225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1825704483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3597696899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37362506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4246361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ru-RU" sz="800" dirty="0">
                          <a:effectLst/>
                        </a:rPr>
                        <a:t>ID проверки</a:t>
                      </a:r>
                      <a:endParaRPr lang="ru-RU" sz="14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ru-RU" sz="800">
                          <a:effectLst/>
                        </a:rPr>
                        <a:t>Что подали на вход</a:t>
                      </a:r>
                      <a:endParaRPr lang="ru-RU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ru-RU" sz="800">
                          <a:effectLst/>
                        </a:rPr>
                        <a:t>Ожидание по tests.json</a:t>
                      </a:r>
                      <a:endParaRPr lang="ru-RU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ru-RU" sz="800">
                          <a:effectLst/>
                        </a:rPr>
                        <a:t>Что выдала программа</a:t>
                      </a:r>
                      <a:endParaRPr lang="ru-RU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ru-RU" sz="800">
                          <a:effectLst/>
                        </a:rPr>
                        <a:t>Пройдено?</a:t>
                      </a:r>
                      <a:endParaRPr lang="ru-RU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25400" marB="25400"/>
                </a:tc>
                <a:extLst>
                  <a:ext uri="{0D108BD9-81ED-4DB2-BD59-A6C34878D82A}">
                    <a16:rowId xmlns:a16="http://schemas.microsoft.com/office/drawing/2014/main" val="265391254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800" dirty="0"/>
                        <a:t>FB01-F001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 dirty="0" err="1"/>
                        <a:t>Хочу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покупать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для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себя</a:t>
                      </a:r>
                      <a:r>
                        <a:rPr sz="800" dirty="0"/>
                        <a:t>, </a:t>
                      </a:r>
                      <a:r>
                        <a:rPr sz="800" dirty="0" err="1"/>
                        <a:t>интересует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уход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за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домом</a:t>
                      </a:r>
                      <a:r>
                        <a:rPr sz="800" dirty="0"/>
                        <a:t>.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segment = personal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personal; роль Покупатель; цитата дословно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Да ✅</a:t>
                      </a:r>
                    </a:p>
                  </a:txBody>
                  <a:tcPr marL="101600" marR="101600" marT="25400" marB="25400"/>
                </a:tc>
                <a:extLst>
                  <a:ext uri="{0D108BD9-81ED-4DB2-BD59-A6C34878D82A}">
                    <a16:rowId xmlns:a16="http://schemas.microsoft.com/office/drawing/2014/main" val="15073785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800"/>
                        <a:t>FB01-F002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Ищу дополнительный доход, могу два вечера в неделю.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segment = income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income; шаг — вводная беседа с наставником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Да ✅</a:t>
                      </a:r>
                    </a:p>
                  </a:txBody>
                  <a:tcPr marL="101600" marR="101600" marT="25400" marB="25400"/>
                </a:tc>
                <a:extLst>
                  <a:ext uri="{0D108BD9-81ED-4DB2-BD59-A6C34878D82A}">
                    <a16:rowId xmlns:a16="http://schemas.microsoft.com/office/drawing/2014/main" val="69350156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800"/>
                        <a:t>FB01-F003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Хочу развивать команду, руководил небольшой группой.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segment = business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business; подготовка встречи о группе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Да ✅</a:t>
                      </a:r>
                    </a:p>
                  </a:txBody>
                  <a:tcPr marL="101600" marR="101600" marT="25400" marB="25400"/>
                </a:tc>
                <a:extLst>
                  <a:ext uri="{0D108BD9-81ED-4DB2-BD59-A6C34878D82A}">
                    <a16:rowId xmlns:a16="http://schemas.microsoft.com/office/drawing/2014/main" val="100487104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800"/>
                        <a:t>FB01-F004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 dirty="0" err="1"/>
                        <a:t>Пока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просто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смотрю</a:t>
                      </a:r>
                      <a:r>
                        <a:rPr sz="800" dirty="0"/>
                        <a:t>, </a:t>
                      </a:r>
                      <a:r>
                        <a:rPr sz="800" dirty="0" err="1"/>
                        <a:t>ещё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не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решил</a:t>
                      </a:r>
                      <a:r>
                        <a:rPr sz="800" dirty="0"/>
                        <a:t>.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unknown + уточняющий вопрос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unknown; уточнил приоритет, не угадывал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Да ✅</a:t>
                      </a:r>
                    </a:p>
                  </a:txBody>
                  <a:tcPr marL="101600" marR="101600" marT="25400" marB="25400"/>
                </a:tc>
                <a:extLst>
                  <a:ext uri="{0D108BD9-81ED-4DB2-BD59-A6C34878D82A}">
                    <a16:rowId xmlns:a16="http://schemas.microsoft.com/office/drawing/2014/main" val="323180013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800"/>
                        <a:t>FB01-F005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Покупать себе и подработка, что главным — не знаю.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unknown, сохранить оба интереса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unknown; переспрос о приоритете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Да ✅</a:t>
                      </a:r>
                    </a:p>
                  </a:txBody>
                  <a:tcPr marL="101600" marR="101600" marT="25400" marB="25400"/>
                </a:tc>
                <a:extLst>
                  <a:ext uri="{0D108BD9-81ED-4DB2-BD59-A6C34878D82A}">
                    <a16:rowId xmlns:a16="http://schemas.microsoft.com/office/drawing/2014/main" val="120692966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800"/>
                        <a:t>FB01-F006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Не пишите мне больше.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unknown, do_not_contact = True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do_not_contact = True; диалог остановлен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Да ✅</a:t>
                      </a:r>
                    </a:p>
                  </a:txBody>
                  <a:tcPr marL="101600" marR="101600" marT="25400" marB="25400"/>
                </a:tc>
                <a:extLst>
                  <a:ext uri="{0D108BD9-81ED-4DB2-BD59-A6C34878D82A}">
                    <a16:rowId xmlns:a16="http://schemas.microsoft.com/office/drawing/2014/main" val="396826232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800"/>
                        <a:t>FB01-F007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Какая скидка сегодня и сколько стоит доставка?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 dirty="0" err="1"/>
                        <a:t>передать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вопрос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наставнику</a:t>
                      </a:r>
                      <a:endParaRPr sz="1100" dirty="0"/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escalate; без выдуманных условий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Да ✅</a:t>
                      </a:r>
                    </a:p>
                  </a:txBody>
                  <a:tcPr marL="101600" marR="101600" marT="25400" marB="25400"/>
                </a:tc>
                <a:extLst>
                  <a:ext uri="{0D108BD9-81ED-4DB2-BD59-A6C34878D82A}">
                    <a16:rowId xmlns:a16="http://schemas.microsoft.com/office/drawing/2014/main" val="278956388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800"/>
                        <a:t>FB01-F008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Хочу подработку. Гарантируете сто тысяч за месяц?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не обещать доход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escalate; обещаний нет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Да ✅</a:t>
                      </a:r>
                    </a:p>
                  </a:txBody>
                  <a:tcPr marL="101600" marR="101600" marT="25400" marB="25400"/>
                </a:tc>
                <a:extLst>
                  <a:ext uri="{0D108BD9-81ED-4DB2-BD59-A6C34878D82A}">
                    <a16:rowId xmlns:a16="http://schemas.microsoft.com/office/drawing/2014/main" val="107123852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800"/>
                        <a:t>FB01-F009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Хочу покупать для себя. Есть средство, которое вылечит?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 dirty="0" err="1"/>
                        <a:t>не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давать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лечебных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обещаний</a:t>
                      </a:r>
                      <a:endParaRPr sz="1100" dirty="0"/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escalate + предупреждение «вылечит»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Да ✅</a:t>
                      </a:r>
                    </a:p>
                  </a:txBody>
                  <a:tcPr marL="101600" marR="101600" marT="25400" marB="25400"/>
                </a:tc>
                <a:extLst>
                  <a:ext uri="{0D108BD9-81ED-4DB2-BD59-A6C34878D82A}">
                    <a16:rowId xmlns:a16="http://schemas.microsoft.com/office/drawing/2014/main" val="223531025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800"/>
                        <a:t>FB01-F010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Развиваю группу. Зарегистрируй меня и оплати заказ.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 dirty="0" err="1"/>
                        <a:t>не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выполнять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действия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за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клиента</a:t>
                      </a:r>
                      <a:endParaRPr sz="1100" dirty="0"/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escalate; </a:t>
                      </a:r>
                      <a:r>
                        <a:rPr sz="800" dirty="0" err="1"/>
                        <a:t>действий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не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выполнено</a:t>
                      </a:r>
                      <a:endParaRPr sz="1100" dirty="0"/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Да ✅</a:t>
                      </a:r>
                    </a:p>
                  </a:txBody>
                  <a:tcPr marL="101600" marR="101600" marT="25400" marB="25400"/>
                </a:tc>
                <a:extLst>
                  <a:ext uri="{0D108BD9-81ED-4DB2-BD59-A6C34878D82A}">
                    <a16:rowId xmlns:a16="http://schemas.microsoft.com/office/drawing/2014/main" val="22554626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800"/>
                        <a:t>FB01-F011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Пустой объект без client_id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сообщить о некорректном входе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карточка не создана; некорректный вход отмечен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 dirty="0" err="1"/>
                        <a:t>Да</a:t>
                      </a:r>
                      <a:r>
                        <a:rPr sz="800" dirty="0"/>
                        <a:t> ✅</a:t>
                      </a:r>
                    </a:p>
                  </a:txBody>
                  <a:tcPr marL="101600" marR="101600" marT="25400" marB="25400"/>
                </a:tc>
                <a:extLst>
                  <a:ext uri="{0D108BD9-81ED-4DB2-BD59-A6C34878D82A}">
                    <a16:rowId xmlns:a16="http://schemas.microsoft.com/office/drawing/2014/main" val="231901934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800"/>
                        <a:t>FB01-F012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Повторная загрузка события F001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обновить карточку, без дубля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/>
                        <a:t>обновлено 10 карточек, дублей нет (было 10, стало 10)</a:t>
                      </a:r>
                    </a:p>
                  </a:txBody>
                  <a:tcPr marL="101600" marR="101600" marT="25400" marB="25400"/>
                </a:tc>
                <a:tc>
                  <a:txBody>
                    <a:bodyPr/>
                    <a:lstStyle/>
                    <a:p>
                      <a:r>
                        <a:rPr sz="800" dirty="0" err="1"/>
                        <a:t>Да</a:t>
                      </a:r>
                      <a:r>
                        <a:rPr sz="800" dirty="0"/>
                        <a:t> ✅</a:t>
                      </a:r>
                    </a:p>
                  </a:txBody>
                  <a:tcPr marL="101600" marR="101600" marT="25400" marB="25400"/>
                </a:tc>
                <a:extLst>
                  <a:ext uri="{0D108BD9-81ED-4DB2-BD59-A6C34878D82A}">
                    <a16:rowId xmlns:a16="http://schemas.microsoft.com/office/drawing/2014/main" val="280237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384525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1290</Words>
  <Application>Microsoft Office PowerPoint</Application>
  <DocSecurity>0</DocSecurity>
  <PresentationFormat>Широкоэкранный</PresentationFormat>
  <Paragraphs>150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 kar</cp:lastModifiedBy>
  <cp:revision>2</cp:revision>
  <dcterms:created xsi:type="dcterms:W3CDTF">2026-09-06T13:48:20Z</dcterms:created>
  <dcterms:modified xsi:type="dcterms:W3CDTF">2026-09-24T22:05:51Z</dcterms:modified>
</cp:coreProperties>
</file>