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80" d="100"/>
          <a:sy n="80" d="100"/>
        </p:scale>
        <p:origin x="132" y="178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[0:00] Добрый день. Команда Finik, кейс FB01 — ИИ-помощник нового клиента для Faberlic.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Владелец процесса — наставник. Пользователь — новичок после мероприятия. Ситуация: регистрация есть, контекста нет. Результат: карточка с цитатой вместо ручного чтения переписки.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[0:25] Первый контакт теряется: 40 минут ручного разбора на человека — это гипотеза, цифру подтвердит замер на пилоте. Цель — 5 минут и 85% принятых карточек.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[0:45] Сценарий один и законченный: событие → диалог → карточка → черновик. Границы честные: MAX не делаем, за клиента не регистрируемся и не платим, автоотправки нет — только черновики.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[1:10] Данные учебные, вымышленные. LLM извлекает структуру, правила держат границы кейса. Локально qwen2.5:7b через Ollama, ключи только в .env.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[1:25] Демонстрация: вход — свободный ответ клиента, выход — карточка и черновик наставнику. Сюда можно вставить скриншот или показать живьём. Если живое падает — резервное видео из репозитория.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[2:00] Проверка: контур собран, 172 проверки, ноль отказов, все 12 тестов кейса закрыты. LLM-линия — 10 из 10 и 21 перефраз. Таблица проверок — на слайде 11.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[2:20] Эффект — гипотеза: 40 минут в 5, ~300 контактов в месяц. Честно помечаем: вживую не мерили.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Команда — четверо, вклад распределён по ролям. Всё в репозитории, запуск двумя командами, тесты воспроизводятся.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[2:40] Пилот: разработка до марта, недельный промышленный прогон, критерий — 85% карточек без доработки. Спасибо, готовы к вопросам.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[2:00] Проверка: контур собран, 172 проверки, ноль отказов, все 12 тестов кейса закрыты. LLM-линия — 10 из 10 и 21 перефраз. Таблица проверок — на слайде 11.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5284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BA10FA9F-C173-46A7-B218-C4449E0E2D25}"/>
              </a:ext>
            </a:extLst>
          </p:cNvPr>
          <p:cNvSpPr>
            <a:spLocks noGrp="1"/>
          </p:cNvSpPr>
          <p:nvPr/>
        </p:nvSpPr>
        <p:spPr>
          <a:xfrm>
            <a:off x="0" y="5953125"/>
            <a:ext cx="12192000" cy="904875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</p:sp>
      <p:pic>
        <p:nvPicPr>
          <p:cNvPr id="18" name="Рисунок 17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609600" y="6143625"/>
            <a:ext cx="457200" cy="457200"/>
          </a:xfrm>
          <a:prstGeom prst="rect">
            <a:avLst/>
          </a:prstGeom>
        </p:spPr>
      </p:pic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62AD9225-EFBD-4AE7-A664-63E2B01A1C8C}"/>
              </a:ext>
            </a:extLst>
          </p:cNvPr>
          <p:cNvSpPr>
            <a:spLocks noGrp="1"/>
          </p:cNvSpPr>
          <p:nvPr/>
        </p:nvSpPr>
        <p:spPr>
          <a:xfrm>
            <a:off x="1143000" y="6134100"/>
            <a:ext cx="1619250" cy="5143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3000" b="1">
                <a:solidFill>
                  <a:srgbClr val="052849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052849"/>
                </a:solidFill>
                <a:latin typeface="Arial"/>
                <a:ea typeface="Arial"/>
                <a:cs typeface="Arial"/>
              </a:rPr>
              <a:t>окели</a:t>
            </a:r>
          </a:p>
        </p:txBody>
      </p:sp>
      <p:pic>
        <p:nvPicPr>
          <p:cNvPr id="20" name="Рисунок 19"/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4762500" y="6115159"/>
            <a:ext cx="1390650" cy="590333"/>
          </a:xfrm>
          <a:prstGeom prst="rect">
            <a:avLst/>
          </a:prstGeom>
        </p:spPr>
      </p:pic>
      <p:pic>
        <p:nvPicPr>
          <p:cNvPr id="21" name="Рисунок 20"/>
          <p:cNvPicPr>
            <a:picLocks noChangeAspect="1"/>
          </p:cNvPicPr>
          <p:nvPr/>
        </p:nvPicPr>
        <p:blipFill>
          <a:blip r:embed="rId5"/>
          <a:stretch/>
        </p:blipFill>
        <p:spPr>
          <a:xfrm>
            <a:off x="9039225" y="6067425"/>
            <a:ext cx="628650" cy="628650"/>
          </a:xfrm>
          <a:prstGeom prst="rect">
            <a:avLst/>
          </a:prstGeom>
        </p:spPr>
      </p:pic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C868DAF4-7509-4912-9534-04FF3EB9FD1B}"/>
              </a:ext>
            </a:extLst>
          </p:cNvPr>
          <p:cNvSpPr>
            <a:spLocks noGrp="1"/>
          </p:cNvSpPr>
          <p:nvPr/>
        </p:nvSpPr>
        <p:spPr>
          <a:xfrm>
            <a:off x="9829800" y="6305550"/>
            <a:ext cx="1571625" cy="2571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575" b="0">
                <a:solidFill>
                  <a:srgbClr val="052849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052849"/>
                </a:solidFill>
                <a:latin typeface="Arial"/>
                <a:ea typeface="Arial"/>
                <a:cs typeface="Arial"/>
              </a:rPr>
              <a:t>Волгоград</a:t>
            </a:r>
          </a:p>
        </p:txBody>
      </p:sp>
      <p:sp>
        <p:nvSpPr>
          <p:cNvPr id="8" name="Прямоугольник 7">
            <a:extLst>
              <a:ext uri="{FF2B5EF4-FFF2-40B4-BE49-F238E27FC236}">
                <a16:creationId xmlns:a16="http://schemas.microsoft.com/office/drawing/2014/main" id="{5E67CB4F-402D-48A4-8163-66EB0D803EB4}"/>
              </a:ext>
            </a:extLst>
          </p:cNvPr>
          <p:cNvSpPr>
            <a:spLocks noGrp="1"/>
          </p:cNvSpPr>
          <p:nvPr/>
        </p:nvSpPr>
        <p:spPr>
          <a:xfrm>
            <a:off x="11525250" y="6343650"/>
            <a:ext cx="419100" cy="2095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050" b="0">
                <a:solidFill>
                  <a:srgbClr val="566572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566572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9" name="Прямоугольник 8">
            <a:extLst>
              <a:ext uri="{FF2B5EF4-FFF2-40B4-BE49-F238E27FC236}">
                <a16:creationId xmlns:a16="http://schemas.microsoft.com/office/drawing/2014/main" id="{3785A98C-BD32-4C63-9606-BEA5BA67446D}"/>
              </a:ext>
            </a:extLst>
          </p:cNvPr>
          <p:cNvSpPr>
            <a:spLocks noGrp="1"/>
          </p:cNvSpPr>
          <p:nvPr/>
        </p:nvSpPr>
        <p:spPr>
          <a:xfrm>
            <a:off x="609600" y="1828800"/>
            <a:ext cx="666750" cy="4381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325" b="1">
                <a:solidFill>
                  <a:srgbClr val="19AAB8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9AAB8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10" name="Прямоугольник 9">
            <a:extLst>
              <a:ext uri="{FF2B5EF4-FFF2-40B4-BE49-F238E27FC236}">
                <a16:creationId xmlns:a16="http://schemas.microsoft.com/office/drawing/2014/main" id="{8F41C6A7-2A36-4497-9339-1258F6CBAA09}"/>
              </a:ext>
            </a:extLst>
          </p:cNvPr>
          <p:cNvSpPr>
            <a:spLocks noGrp="1"/>
          </p:cNvSpPr>
          <p:nvPr/>
        </p:nvSpPr>
        <p:spPr>
          <a:xfrm>
            <a:off x="1447800" y="1847850"/>
            <a:ext cx="9858375" cy="609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25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Команда Finik · Кейс FB01</a:t>
            </a:r>
          </a:p>
        </p:txBody>
      </p:sp>
      <p:sp>
        <p:nvSpPr>
          <p:cNvPr id="11" name="Прямоугольник 10">
            <a:extLst>
              <a:ext uri="{FF2B5EF4-FFF2-40B4-BE49-F238E27FC236}">
                <a16:creationId xmlns:a16="http://schemas.microsoft.com/office/drawing/2014/main" id="{6EB5C803-0548-4D2E-954D-D5A7F075474B}"/>
              </a:ext>
            </a:extLst>
          </p:cNvPr>
          <p:cNvSpPr>
            <a:spLocks noGrp="1"/>
          </p:cNvSpPr>
          <p:nvPr/>
        </p:nvSpPr>
        <p:spPr>
          <a:xfrm>
            <a:off x="609600" y="2590800"/>
            <a:ext cx="666750" cy="4381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325" b="1">
                <a:solidFill>
                  <a:srgbClr val="19AAB8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9AAB8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12" name="Прямоугольник 11">
            <a:extLst>
              <a:ext uri="{FF2B5EF4-FFF2-40B4-BE49-F238E27FC236}">
                <a16:creationId xmlns:a16="http://schemas.microsoft.com/office/drawing/2014/main" id="{B807B553-DE94-48AB-9575-B40E4136B7A1}"/>
              </a:ext>
            </a:extLst>
          </p:cNvPr>
          <p:cNvSpPr>
            <a:spLocks noGrp="1"/>
          </p:cNvSpPr>
          <p:nvPr/>
        </p:nvSpPr>
        <p:spPr>
          <a:xfrm>
            <a:off x="1447800" y="2609850"/>
            <a:ext cx="9858375" cy="609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25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Faberlic — владелец задачи (ИП Самойленко А. С.)</a:t>
            </a:r>
          </a:p>
        </p:txBody>
      </p:sp>
      <p:sp>
        <p:nvSpPr>
          <p:cNvPr id="13" name="Прямоугольник 12">
            <a:extLst>
              <a:ext uri="{FF2B5EF4-FFF2-40B4-BE49-F238E27FC236}">
                <a16:creationId xmlns:a16="http://schemas.microsoft.com/office/drawing/2014/main" id="{61A4D37F-0327-46CF-99CB-B75745AE443A}"/>
              </a:ext>
            </a:extLst>
          </p:cNvPr>
          <p:cNvSpPr>
            <a:spLocks noGrp="1"/>
          </p:cNvSpPr>
          <p:nvPr/>
        </p:nvSpPr>
        <p:spPr>
          <a:xfrm>
            <a:off x="609600" y="3352800"/>
            <a:ext cx="666750" cy="4381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325" b="1">
                <a:solidFill>
                  <a:srgbClr val="19AAB8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9AAB8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14" name="Прямоугольник 13">
            <a:extLst>
              <a:ext uri="{FF2B5EF4-FFF2-40B4-BE49-F238E27FC236}">
                <a16:creationId xmlns:a16="http://schemas.microsoft.com/office/drawing/2014/main" id="{DE561F67-4D7B-452C-9DEB-934A87DEB5B5}"/>
              </a:ext>
            </a:extLst>
          </p:cNvPr>
          <p:cNvSpPr>
            <a:spLocks noGrp="1"/>
          </p:cNvSpPr>
          <p:nvPr/>
        </p:nvSpPr>
        <p:spPr>
          <a:xfrm>
            <a:off x="1447800" y="3371850"/>
            <a:ext cx="9858375" cy="609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25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23–25 сентября 2026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9600" y="431800"/>
            <a:ext cx="10858500" cy="1193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19AAB8"/>
                </a:solidFill>
                <a:latin typeface="Arial"/>
              </a:rPr>
              <a:t>ИИ-помощник нового клиента Faberlic</a:t>
            </a:r>
          </a:p>
        </p:txBody>
      </p:sp>
    </p:spTree>
    <p:extLst>
      <p:ext uri="{BB962C8B-B14F-4D97-AF65-F5344CB8AC3E}">
        <p14:creationId xmlns:p14="http://schemas.microsoft.com/office/powerpoint/2010/main" val="38285794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8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Прямоугольник 17">
            <a:extLst>
              <a:ext uri="{FF2B5EF4-FFF2-40B4-BE49-F238E27FC236}">
                <a16:creationId xmlns:a16="http://schemas.microsoft.com/office/drawing/2014/main" id="{8E7A68E6-2110-4916-AB73-A6390141DABD}"/>
              </a:ext>
            </a:extLst>
          </p:cNvPr>
          <p:cNvSpPr>
            <a:spLocks noGrp="1"/>
          </p:cNvSpPr>
          <p:nvPr/>
        </p:nvSpPr>
        <p:spPr>
          <a:xfrm>
            <a:off x="609600" y="438150"/>
            <a:ext cx="10858500" cy="119062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3600" b="1">
                <a:solidFill>
                  <a:srgbClr val="052849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052849"/>
                </a:solidFill>
                <a:latin typeface="Arial"/>
                <a:ea typeface="Arial"/>
                <a:cs typeface="Arial"/>
              </a:rPr>
              <a:t>Кейс и пользователь</a:t>
            </a:r>
          </a:p>
        </p:txBody>
      </p:sp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B17D4908-23BA-4788-970C-36A685F3E5D1}"/>
              </a:ext>
            </a:extLst>
          </p:cNvPr>
          <p:cNvSpPr>
            <a:spLocks noGrp="1"/>
          </p:cNvSpPr>
          <p:nvPr/>
        </p:nvSpPr>
        <p:spPr>
          <a:xfrm>
            <a:off x="0" y="5953125"/>
            <a:ext cx="12192000" cy="904875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</p:sp>
      <p:pic>
        <p:nvPicPr>
          <p:cNvPr id="20" name="Рисунок 19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609600" y="6143625"/>
            <a:ext cx="457200" cy="457200"/>
          </a:xfrm>
          <a:prstGeom prst="rect">
            <a:avLst/>
          </a:prstGeom>
        </p:spPr>
      </p:pic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9D72A87E-450C-4F00-B0BB-8767EC90AD6A}"/>
              </a:ext>
            </a:extLst>
          </p:cNvPr>
          <p:cNvSpPr>
            <a:spLocks noGrp="1"/>
          </p:cNvSpPr>
          <p:nvPr/>
        </p:nvSpPr>
        <p:spPr>
          <a:xfrm>
            <a:off x="1143000" y="6134100"/>
            <a:ext cx="1619250" cy="5143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3000" b="1">
                <a:solidFill>
                  <a:srgbClr val="052849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052849"/>
                </a:solidFill>
                <a:latin typeface="Arial"/>
                <a:ea typeface="Arial"/>
                <a:cs typeface="Arial"/>
              </a:rPr>
              <a:t>окели</a:t>
            </a:r>
          </a:p>
        </p:txBody>
      </p:sp>
      <p:pic>
        <p:nvPicPr>
          <p:cNvPr id="22" name="Рисунок 21"/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4762500" y="6115159"/>
            <a:ext cx="1390650" cy="590333"/>
          </a:xfrm>
          <a:prstGeom prst="rect">
            <a:avLst/>
          </a:prstGeom>
        </p:spPr>
      </p:pic>
      <p:pic>
        <p:nvPicPr>
          <p:cNvPr id="23" name="Рисунок 22"/>
          <p:cNvPicPr>
            <a:picLocks noChangeAspect="1"/>
          </p:cNvPicPr>
          <p:nvPr/>
        </p:nvPicPr>
        <p:blipFill>
          <a:blip r:embed="rId5"/>
          <a:stretch/>
        </p:blipFill>
        <p:spPr>
          <a:xfrm>
            <a:off x="9039225" y="6067425"/>
            <a:ext cx="628650" cy="628650"/>
          </a:xfrm>
          <a:prstGeom prst="rect">
            <a:avLst/>
          </a:prstGeom>
        </p:spPr>
      </p:pic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A6B0FAF0-DE4A-41CA-8509-0AF617A194F6}"/>
              </a:ext>
            </a:extLst>
          </p:cNvPr>
          <p:cNvSpPr>
            <a:spLocks noGrp="1"/>
          </p:cNvSpPr>
          <p:nvPr/>
        </p:nvSpPr>
        <p:spPr>
          <a:xfrm>
            <a:off x="9829800" y="6305550"/>
            <a:ext cx="1571625" cy="2571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575" b="0">
                <a:solidFill>
                  <a:srgbClr val="052849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052849"/>
                </a:solidFill>
                <a:latin typeface="Arial"/>
                <a:ea typeface="Arial"/>
                <a:cs typeface="Arial"/>
              </a:rPr>
              <a:t>Волгоград</a:t>
            </a:r>
          </a:p>
        </p:txBody>
      </p:sp>
      <p:sp>
        <p:nvSpPr>
          <p:cNvPr id="8" name="Прямоугольник 7">
            <a:extLst>
              <a:ext uri="{FF2B5EF4-FFF2-40B4-BE49-F238E27FC236}">
                <a16:creationId xmlns:a16="http://schemas.microsoft.com/office/drawing/2014/main" id="{CFF6EABB-0B67-4B7C-96CF-4B1CE7A3C690}"/>
              </a:ext>
            </a:extLst>
          </p:cNvPr>
          <p:cNvSpPr>
            <a:spLocks noGrp="1"/>
          </p:cNvSpPr>
          <p:nvPr/>
        </p:nvSpPr>
        <p:spPr>
          <a:xfrm>
            <a:off x="11525250" y="6343650"/>
            <a:ext cx="419100" cy="2095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050" b="0">
                <a:solidFill>
                  <a:srgbClr val="566572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566572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9" name="Прямоугольник 8">
            <a:extLst>
              <a:ext uri="{FF2B5EF4-FFF2-40B4-BE49-F238E27FC236}">
                <a16:creationId xmlns:a16="http://schemas.microsoft.com/office/drawing/2014/main" id="{A0D1F91B-A9DC-412B-89FE-84EE2B332EE6}"/>
              </a:ext>
            </a:extLst>
          </p:cNvPr>
          <p:cNvSpPr>
            <a:spLocks noGrp="1"/>
          </p:cNvSpPr>
          <p:nvPr/>
        </p:nvSpPr>
        <p:spPr>
          <a:xfrm>
            <a:off x="609600" y="1828800"/>
            <a:ext cx="666750" cy="4381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325" b="1">
                <a:solidFill>
                  <a:srgbClr val="018A98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018A98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10" name="Прямоугольник 9">
            <a:extLst>
              <a:ext uri="{FF2B5EF4-FFF2-40B4-BE49-F238E27FC236}">
                <a16:creationId xmlns:a16="http://schemas.microsoft.com/office/drawing/2014/main" id="{9FF13A07-9065-4B7A-82A8-C189E036267E}"/>
              </a:ext>
            </a:extLst>
          </p:cNvPr>
          <p:cNvSpPr>
            <a:spLocks noGrp="1"/>
          </p:cNvSpPr>
          <p:nvPr/>
        </p:nvSpPr>
        <p:spPr>
          <a:xfrm>
            <a:off x="1447800" y="1847850"/>
            <a:ext cx="9858375" cy="609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250" b="0">
                <a:solidFill>
                  <a:srgbClr val="052849"/>
                </a:solidFill>
                <a:latin typeface="Arial"/>
                <a:ea typeface="Arial"/>
                <a:cs typeface="Arial"/>
              </a:defRPr>
            </a:pPr>
            <a:r>
              <a:rPr sz="2250" b="0" dirty="0" err="1">
                <a:solidFill>
                  <a:srgbClr val="052849"/>
                </a:solidFill>
                <a:latin typeface="Arial"/>
                <a:ea typeface="Arial"/>
                <a:cs typeface="Arial"/>
              </a:rPr>
              <a:t>Владелец процесса: </a:t>
            </a:r>
            <a:r>
              <a:rPr lang="ru-RU" sz="2250" dirty="0">
                <a:solidFill>
                  <a:srgbClr val="052849"/>
                </a:solidFill>
                <a:latin typeface="Arial"/>
                <a:ea typeface="Arial"/>
                <a:cs typeface="Arial"/>
              </a:rPr>
              <a:t>наставники Faberlic: на них ложится первый разговор с каждым новичком</a:t>
            </a:r>
            <a:endParaRPr sz="2250" b="0" dirty="0">
              <a:solidFill>
                <a:srgbClr val="052849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1" name="Прямоугольник 10">
            <a:extLst>
              <a:ext uri="{FF2B5EF4-FFF2-40B4-BE49-F238E27FC236}">
                <a16:creationId xmlns:a16="http://schemas.microsoft.com/office/drawing/2014/main" id="{BA6A05A9-CEAE-4050-8FCE-8482FAF16F4C}"/>
              </a:ext>
            </a:extLst>
          </p:cNvPr>
          <p:cNvSpPr>
            <a:spLocks noGrp="1"/>
          </p:cNvSpPr>
          <p:nvPr/>
        </p:nvSpPr>
        <p:spPr>
          <a:xfrm>
            <a:off x="609600" y="2590800"/>
            <a:ext cx="666750" cy="4381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325" b="1">
                <a:solidFill>
                  <a:srgbClr val="018A98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018A98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12" name="Прямоугольник 11">
            <a:extLst>
              <a:ext uri="{FF2B5EF4-FFF2-40B4-BE49-F238E27FC236}">
                <a16:creationId xmlns:a16="http://schemas.microsoft.com/office/drawing/2014/main" id="{3CEBA653-5751-47A0-B90A-0D68B194093E}"/>
              </a:ext>
            </a:extLst>
          </p:cNvPr>
          <p:cNvSpPr>
            <a:spLocks noGrp="1"/>
          </p:cNvSpPr>
          <p:nvPr/>
        </p:nvSpPr>
        <p:spPr>
          <a:xfrm>
            <a:off x="1447800" y="2609850"/>
            <a:ext cx="9858375" cy="609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250" b="0">
                <a:solidFill>
                  <a:srgbClr val="052849"/>
                </a:solidFill>
                <a:latin typeface="Arial"/>
                <a:ea typeface="Arial"/>
                <a:cs typeface="Arial"/>
              </a:defRPr>
            </a:pPr>
            <a:r>
              <a:rPr sz="2250" b="0" dirty="0" err="1">
                <a:solidFill>
                  <a:srgbClr val="052849"/>
                </a:solidFill>
                <a:latin typeface="Arial"/>
                <a:ea typeface="Arial"/>
                <a:cs typeface="Arial"/>
              </a:rPr>
              <a:t>Пользователь: </a:t>
            </a:r>
            <a:r>
              <a:rPr lang="ru-RU" sz="2250" b="0" dirty="0">
                <a:solidFill>
                  <a:srgbClr val="052849"/>
                </a:solidFill>
                <a:latin typeface="Arial"/>
                <a:ea typeface="Arial"/>
                <a:cs typeface="Arial"/>
              </a:rPr>
              <a:t>новые клиенты после обучающего мероприятия — покупатели, «доход», бизнес и ещё не определившиеся</a:t>
            </a:r>
            <a:endParaRPr sz="2250" b="0" dirty="0">
              <a:solidFill>
                <a:srgbClr val="052849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3" name="Прямоугольник 12">
            <a:extLst>
              <a:ext uri="{FF2B5EF4-FFF2-40B4-BE49-F238E27FC236}">
                <a16:creationId xmlns:a16="http://schemas.microsoft.com/office/drawing/2014/main" id="{C30734A0-8F2F-49C5-BD67-80B65AFEBFBE}"/>
              </a:ext>
            </a:extLst>
          </p:cNvPr>
          <p:cNvSpPr>
            <a:spLocks noGrp="1"/>
          </p:cNvSpPr>
          <p:nvPr/>
        </p:nvSpPr>
        <p:spPr>
          <a:xfrm>
            <a:off x="609600" y="3352800"/>
            <a:ext cx="666750" cy="4381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325" b="1">
                <a:solidFill>
                  <a:srgbClr val="018A98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018A98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14" name="Прямоугольник 13">
            <a:extLst>
              <a:ext uri="{FF2B5EF4-FFF2-40B4-BE49-F238E27FC236}">
                <a16:creationId xmlns:a16="http://schemas.microsoft.com/office/drawing/2014/main" id="{32E2CF21-7730-43DA-88AA-8186E426709A}"/>
              </a:ext>
            </a:extLst>
          </p:cNvPr>
          <p:cNvSpPr>
            <a:spLocks noGrp="1"/>
          </p:cNvSpPr>
          <p:nvPr/>
        </p:nvSpPr>
        <p:spPr>
          <a:xfrm>
            <a:off x="1447800" y="3371850"/>
            <a:ext cx="9858375" cy="609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250" b="0">
                <a:solidFill>
                  <a:srgbClr val="052849"/>
                </a:solidFill>
                <a:latin typeface="Arial"/>
                <a:ea typeface="Arial"/>
                <a:cs typeface="Arial"/>
              </a:defRPr>
            </a:pPr>
            <a:r>
              <a:rPr sz="2250" b="0" dirty="0" err="1">
                <a:solidFill>
                  <a:srgbClr val="052849"/>
                </a:solidFill>
                <a:latin typeface="Arial"/>
                <a:ea typeface="Arial"/>
                <a:cs typeface="Arial"/>
              </a:rPr>
              <a:t>Ситуация: </a:t>
            </a:r>
            <a:r>
              <a:rPr lang="ru-RU" sz="2250" dirty="0">
                <a:solidFill>
                  <a:srgbClr val="052849"/>
                </a:solidFill>
                <a:latin typeface="Arial"/>
                <a:ea typeface="Arial"/>
                <a:cs typeface="Arial"/>
              </a:rPr>
              <a:t>клиент зарегистрировался на сайте, анкета есть — живого контекста о целях нет</a:t>
            </a:r>
            <a:endParaRPr sz="2250" b="0" dirty="0">
              <a:solidFill>
                <a:srgbClr val="052849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5" name="Прямоугольник 14">
            <a:extLst>
              <a:ext uri="{FF2B5EF4-FFF2-40B4-BE49-F238E27FC236}">
                <a16:creationId xmlns:a16="http://schemas.microsoft.com/office/drawing/2014/main" id="{9204822E-30B3-46F6-9798-7700790F0BDA}"/>
              </a:ext>
            </a:extLst>
          </p:cNvPr>
          <p:cNvSpPr>
            <a:spLocks noGrp="1"/>
          </p:cNvSpPr>
          <p:nvPr/>
        </p:nvSpPr>
        <p:spPr>
          <a:xfrm>
            <a:off x="609600" y="4114800"/>
            <a:ext cx="666750" cy="4381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325" b="1">
                <a:solidFill>
                  <a:srgbClr val="018A98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018A98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16" name="Прямоугольник 15">
            <a:extLst>
              <a:ext uri="{FF2B5EF4-FFF2-40B4-BE49-F238E27FC236}">
                <a16:creationId xmlns:a16="http://schemas.microsoft.com/office/drawing/2014/main" id="{14614E9A-C024-4757-8F56-EC1D5572B327}"/>
              </a:ext>
            </a:extLst>
          </p:cNvPr>
          <p:cNvSpPr>
            <a:spLocks noGrp="1"/>
          </p:cNvSpPr>
          <p:nvPr/>
        </p:nvSpPr>
        <p:spPr>
          <a:xfrm>
            <a:off x="1447800" y="4133850"/>
            <a:ext cx="9858375" cy="609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250" b="0">
                <a:solidFill>
                  <a:srgbClr val="052849"/>
                </a:solidFill>
                <a:latin typeface="Arial"/>
                <a:ea typeface="Arial"/>
                <a:cs typeface="Arial"/>
              </a:defRPr>
            </a:pPr>
            <a:r>
              <a:rPr sz="2250" b="0" dirty="0" err="1">
                <a:solidFill>
                  <a:srgbClr val="052849"/>
                </a:solidFill>
                <a:latin typeface="Arial"/>
                <a:ea typeface="Arial"/>
                <a:cs typeface="Arial"/>
              </a:rPr>
              <a:t>Результат: </a:t>
            </a:r>
            <a:r>
              <a:rPr lang="ru-RU" sz="2250" b="0" dirty="0">
                <a:solidFill>
                  <a:srgbClr val="052849"/>
                </a:solidFill>
                <a:latin typeface="Arial"/>
                <a:ea typeface="Arial"/>
                <a:cs typeface="Arial"/>
              </a:rPr>
              <a:t>понятный первый шаг для клиента; заполненная карточка с цитатой — для наставника</a:t>
            </a:r>
            <a:endParaRPr sz="2250" b="0" dirty="0">
              <a:solidFill>
                <a:srgbClr val="052849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35307562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8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Прямоугольник 17">
            <a:extLst>
              <a:ext uri="{FF2B5EF4-FFF2-40B4-BE49-F238E27FC236}">
                <a16:creationId xmlns:a16="http://schemas.microsoft.com/office/drawing/2014/main" id="{56FB4003-5216-4D76-9246-B4FDACCA9DAE}"/>
              </a:ext>
            </a:extLst>
          </p:cNvPr>
          <p:cNvSpPr>
            <a:spLocks noGrp="1"/>
          </p:cNvSpPr>
          <p:nvPr/>
        </p:nvSpPr>
        <p:spPr>
          <a:xfrm>
            <a:off x="609600" y="438150"/>
            <a:ext cx="10858500" cy="119062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3600" b="1">
                <a:solidFill>
                  <a:srgbClr val="052849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052849"/>
                </a:solidFill>
                <a:latin typeface="Arial"/>
                <a:ea typeface="Arial"/>
                <a:cs typeface="Arial"/>
              </a:rPr>
              <a:t>Проблема и исходный уровень</a:t>
            </a:r>
          </a:p>
        </p:txBody>
      </p:sp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0A5927EA-9F24-43A9-9086-7A086598A766}"/>
              </a:ext>
            </a:extLst>
          </p:cNvPr>
          <p:cNvSpPr>
            <a:spLocks noGrp="1"/>
          </p:cNvSpPr>
          <p:nvPr/>
        </p:nvSpPr>
        <p:spPr>
          <a:xfrm>
            <a:off x="0" y="5953125"/>
            <a:ext cx="12192000" cy="904875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</p:sp>
      <p:pic>
        <p:nvPicPr>
          <p:cNvPr id="20" name="Рисунок 19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609600" y="6143625"/>
            <a:ext cx="457200" cy="457200"/>
          </a:xfrm>
          <a:prstGeom prst="rect">
            <a:avLst/>
          </a:prstGeom>
        </p:spPr>
      </p:pic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7A1DBC29-4E42-4528-82EA-2982292B4226}"/>
              </a:ext>
            </a:extLst>
          </p:cNvPr>
          <p:cNvSpPr>
            <a:spLocks noGrp="1"/>
          </p:cNvSpPr>
          <p:nvPr/>
        </p:nvSpPr>
        <p:spPr>
          <a:xfrm>
            <a:off x="1143000" y="6134100"/>
            <a:ext cx="1619250" cy="5143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3000" b="1">
                <a:solidFill>
                  <a:srgbClr val="052849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052849"/>
                </a:solidFill>
                <a:latin typeface="Arial"/>
                <a:ea typeface="Arial"/>
                <a:cs typeface="Arial"/>
              </a:rPr>
              <a:t>окели</a:t>
            </a:r>
          </a:p>
        </p:txBody>
      </p:sp>
      <p:pic>
        <p:nvPicPr>
          <p:cNvPr id="22" name="Рисунок 21"/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4762500" y="6115159"/>
            <a:ext cx="1390650" cy="590333"/>
          </a:xfrm>
          <a:prstGeom prst="rect">
            <a:avLst/>
          </a:prstGeom>
        </p:spPr>
      </p:pic>
      <p:pic>
        <p:nvPicPr>
          <p:cNvPr id="23" name="Рисунок 22"/>
          <p:cNvPicPr>
            <a:picLocks noChangeAspect="1"/>
          </p:cNvPicPr>
          <p:nvPr/>
        </p:nvPicPr>
        <p:blipFill>
          <a:blip r:embed="rId5"/>
          <a:stretch/>
        </p:blipFill>
        <p:spPr>
          <a:xfrm>
            <a:off x="9039225" y="6067425"/>
            <a:ext cx="628650" cy="628650"/>
          </a:xfrm>
          <a:prstGeom prst="rect">
            <a:avLst/>
          </a:prstGeom>
        </p:spPr>
      </p:pic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41A7A0D4-EE9C-4537-85E2-1B646FACFFB6}"/>
              </a:ext>
            </a:extLst>
          </p:cNvPr>
          <p:cNvSpPr>
            <a:spLocks noGrp="1"/>
          </p:cNvSpPr>
          <p:nvPr/>
        </p:nvSpPr>
        <p:spPr>
          <a:xfrm>
            <a:off x="9829800" y="6305550"/>
            <a:ext cx="1571625" cy="2571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575" b="0">
                <a:solidFill>
                  <a:srgbClr val="052849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052849"/>
                </a:solidFill>
                <a:latin typeface="Arial"/>
                <a:ea typeface="Arial"/>
                <a:cs typeface="Arial"/>
              </a:rPr>
              <a:t>Волгоград</a:t>
            </a:r>
          </a:p>
        </p:txBody>
      </p:sp>
      <p:sp>
        <p:nvSpPr>
          <p:cNvPr id="8" name="Прямоугольник 7">
            <a:extLst>
              <a:ext uri="{FF2B5EF4-FFF2-40B4-BE49-F238E27FC236}">
                <a16:creationId xmlns:a16="http://schemas.microsoft.com/office/drawing/2014/main" id="{501A88B0-AD57-4B69-BEE5-A74DD8EF4DD9}"/>
              </a:ext>
            </a:extLst>
          </p:cNvPr>
          <p:cNvSpPr>
            <a:spLocks noGrp="1"/>
          </p:cNvSpPr>
          <p:nvPr/>
        </p:nvSpPr>
        <p:spPr>
          <a:xfrm>
            <a:off x="11525250" y="6343650"/>
            <a:ext cx="419100" cy="2095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050" b="0">
                <a:solidFill>
                  <a:srgbClr val="566572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566572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9" name="Прямоугольник 8">
            <a:extLst>
              <a:ext uri="{FF2B5EF4-FFF2-40B4-BE49-F238E27FC236}">
                <a16:creationId xmlns:a16="http://schemas.microsoft.com/office/drawing/2014/main" id="{3F0E5654-FC43-49CD-B1D3-B654F073835F}"/>
              </a:ext>
            </a:extLst>
          </p:cNvPr>
          <p:cNvSpPr>
            <a:spLocks noGrp="1"/>
          </p:cNvSpPr>
          <p:nvPr/>
        </p:nvSpPr>
        <p:spPr>
          <a:xfrm>
            <a:off x="609600" y="1828800"/>
            <a:ext cx="666750" cy="4381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325" b="1">
                <a:solidFill>
                  <a:srgbClr val="018A98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018A98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10" name="Прямоугольник 9">
            <a:extLst>
              <a:ext uri="{FF2B5EF4-FFF2-40B4-BE49-F238E27FC236}">
                <a16:creationId xmlns:a16="http://schemas.microsoft.com/office/drawing/2014/main" id="{006A0E88-DD80-4C92-A19A-D749255DBA12}"/>
              </a:ext>
            </a:extLst>
          </p:cNvPr>
          <p:cNvSpPr>
            <a:spLocks noGrp="1"/>
          </p:cNvSpPr>
          <p:nvPr/>
        </p:nvSpPr>
        <p:spPr>
          <a:xfrm>
            <a:off x="1447800" y="1847850"/>
            <a:ext cx="9858375" cy="609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250" b="0">
                <a:solidFill>
                  <a:srgbClr val="052849"/>
                </a:solidFill>
                <a:latin typeface="Arial"/>
                <a:ea typeface="Arial"/>
                <a:cs typeface="Arial"/>
              </a:defRPr>
            </a:pPr>
            <a:r>
              <a:rPr sz="2250" b="0" dirty="0" err="1">
                <a:solidFill>
                  <a:srgbClr val="052849"/>
                </a:solidFill>
                <a:latin typeface="Arial"/>
                <a:ea typeface="Arial"/>
                <a:cs typeface="Arial"/>
              </a:rPr>
              <a:t>Сегодня: </a:t>
            </a:r>
            <a:r>
              <a:rPr lang="ru-RU" sz="2250" b="0" dirty="0">
                <a:solidFill>
                  <a:srgbClr val="052849"/>
                </a:solidFill>
                <a:latin typeface="Arial"/>
                <a:ea typeface="Arial"/>
                <a:cs typeface="Arial"/>
              </a:rPr>
              <a:t>первый контакт теряется: наставник разбирает переписку вручную, контекст и карточки дублируются</a:t>
            </a:r>
            <a:endParaRPr sz="2250" b="0" dirty="0">
              <a:solidFill>
                <a:srgbClr val="052849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1" name="Прямоугольник 10">
            <a:extLst>
              <a:ext uri="{FF2B5EF4-FFF2-40B4-BE49-F238E27FC236}">
                <a16:creationId xmlns:a16="http://schemas.microsoft.com/office/drawing/2014/main" id="{0D41F484-178D-45CE-9CC3-DCD5C59A01EC}"/>
              </a:ext>
            </a:extLst>
          </p:cNvPr>
          <p:cNvSpPr>
            <a:spLocks noGrp="1"/>
          </p:cNvSpPr>
          <p:nvPr/>
        </p:nvSpPr>
        <p:spPr>
          <a:xfrm>
            <a:off x="609600" y="2590800"/>
            <a:ext cx="666750" cy="4381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325" b="1">
                <a:solidFill>
                  <a:srgbClr val="018A98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018A98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12" name="Прямоугольник 11">
            <a:extLst>
              <a:ext uri="{FF2B5EF4-FFF2-40B4-BE49-F238E27FC236}">
                <a16:creationId xmlns:a16="http://schemas.microsoft.com/office/drawing/2014/main" id="{D181E381-D4E3-4E07-B7C3-D94B851E44B2}"/>
              </a:ext>
            </a:extLst>
          </p:cNvPr>
          <p:cNvSpPr>
            <a:spLocks noGrp="1"/>
          </p:cNvSpPr>
          <p:nvPr/>
        </p:nvSpPr>
        <p:spPr>
          <a:xfrm>
            <a:off x="1447800" y="2609850"/>
            <a:ext cx="9858375" cy="609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250" b="0">
                <a:solidFill>
                  <a:srgbClr val="052849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052849"/>
                </a:solidFill>
                <a:latin typeface="Arial"/>
                <a:ea typeface="Arial"/>
                <a:cs typeface="Arial"/>
              </a:rPr>
              <a:t>Потери: до 40 минут времени наставника на человека и повторные расспросы (оценка — гипотеза)</a:t>
            </a:r>
          </a:p>
        </p:txBody>
      </p:sp>
      <p:sp>
        <p:nvSpPr>
          <p:cNvPr id="13" name="Прямоугольник 12">
            <a:extLst>
              <a:ext uri="{FF2B5EF4-FFF2-40B4-BE49-F238E27FC236}">
                <a16:creationId xmlns:a16="http://schemas.microsoft.com/office/drawing/2014/main" id="{FC53084B-896C-42F3-BFCE-EE2E3312F71B}"/>
              </a:ext>
            </a:extLst>
          </p:cNvPr>
          <p:cNvSpPr>
            <a:spLocks noGrp="1"/>
          </p:cNvSpPr>
          <p:nvPr/>
        </p:nvSpPr>
        <p:spPr>
          <a:xfrm>
            <a:off x="609600" y="3352800"/>
            <a:ext cx="666750" cy="4381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325" b="1">
                <a:solidFill>
                  <a:srgbClr val="018A98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018A98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14" name="Прямоугольник 13">
            <a:extLst>
              <a:ext uri="{FF2B5EF4-FFF2-40B4-BE49-F238E27FC236}">
                <a16:creationId xmlns:a16="http://schemas.microsoft.com/office/drawing/2014/main" id="{F91D24E3-C41F-44EB-A640-02C98936CA68}"/>
              </a:ext>
            </a:extLst>
          </p:cNvPr>
          <p:cNvSpPr>
            <a:spLocks noGrp="1"/>
          </p:cNvSpPr>
          <p:nvPr/>
        </p:nvSpPr>
        <p:spPr>
          <a:xfrm>
            <a:off x="1447800" y="3371850"/>
            <a:ext cx="9858375" cy="609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250" b="0">
                <a:solidFill>
                  <a:srgbClr val="052849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052849"/>
                </a:solidFill>
                <a:latin typeface="Arial"/>
                <a:ea typeface="Arial"/>
                <a:cs typeface="Arial"/>
              </a:rPr>
              <a:t>Основание: паспорт кейса FB01 и учебная выгрузка: 10 событий регистрации с анкетами сайта</a:t>
            </a:r>
          </a:p>
        </p:txBody>
      </p:sp>
      <p:sp>
        <p:nvSpPr>
          <p:cNvPr id="15" name="Прямоугольник 14">
            <a:extLst>
              <a:ext uri="{FF2B5EF4-FFF2-40B4-BE49-F238E27FC236}">
                <a16:creationId xmlns:a16="http://schemas.microsoft.com/office/drawing/2014/main" id="{23C4CF12-E0A4-4457-86E5-814A34B395C7}"/>
              </a:ext>
            </a:extLst>
          </p:cNvPr>
          <p:cNvSpPr>
            <a:spLocks noGrp="1"/>
          </p:cNvSpPr>
          <p:nvPr/>
        </p:nvSpPr>
        <p:spPr>
          <a:xfrm>
            <a:off x="609600" y="4114800"/>
            <a:ext cx="666750" cy="4381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325" b="1">
                <a:solidFill>
                  <a:srgbClr val="018A98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018A98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16" name="Прямоугольник 15">
            <a:extLst>
              <a:ext uri="{FF2B5EF4-FFF2-40B4-BE49-F238E27FC236}">
                <a16:creationId xmlns:a16="http://schemas.microsoft.com/office/drawing/2014/main" id="{3CECBE19-36C0-4F72-B8D8-4096F9E5365C}"/>
              </a:ext>
            </a:extLst>
          </p:cNvPr>
          <p:cNvSpPr>
            <a:spLocks noGrp="1"/>
          </p:cNvSpPr>
          <p:nvPr/>
        </p:nvSpPr>
        <p:spPr>
          <a:xfrm>
            <a:off x="1447800" y="4133850"/>
            <a:ext cx="9858375" cy="609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250" b="0">
                <a:solidFill>
                  <a:srgbClr val="052849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052849"/>
                </a:solidFill>
                <a:latin typeface="Arial"/>
                <a:ea typeface="Arial"/>
                <a:cs typeface="Arial"/>
              </a:rPr>
              <a:t>Цель: карточка за 5 минут вместо 40; ≥85% карточек без доработки — к пилоту 31.03.2027</a:t>
            </a:r>
          </a:p>
        </p:txBody>
      </p:sp>
      <p:sp>
        <p:nvSpPr>
          <p:cNvPr id="17" name="Прямоугольник 16">
            <a:extLst>
              <a:ext uri="{FF2B5EF4-FFF2-40B4-BE49-F238E27FC236}">
                <a16:creationId xmlns:a16="http://schemas.microsoft.com/office/drawing/2014/main" id="{FCB2CFFB-64C9-4281-B86D-45A0D238ECD3}"/>
              </a:ext>
            </a:extLst>
          </p:cNvPr>
          <p:cNvSpPr>
            <a:spLocks noGrp="1"/>
          </p:cNvSpPr>
          <p:nvPr/>
        </p:nvSpPr>
        <p:spPr>
          <a:xfrm>
            <a:off x="609600" y="5248275"/>
            <a:ext cx="10763250" cy="5905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350" b="0">
                <a:solidFill>
                  <a:srgbClr val="566572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66572"/>
                </a:solidFill>
                <a:latin typeface="Arial"/>
                <a:ea typeface="Arial"/>
                <a:cs typeface="Arial"/>
              </a:rPr>
              <a:t>Числа 40 и 5 минут — гипотеза команды; замер подтвердит владелец процесса на пилоте.</a:t>
            </a:r>
          </a:p>
        </p:txBody>
      </p:sp>
    </p:spTree>
    <p:extLst>
      <p:ext uri="{BB962C8B-B14F-4D97-AF65-F5344CB8AC3E}">
        <p14:creationId xmlns:p14="http://schemas.microsoft.com/office/powerpoint/2010/main" val="58580192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5284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Прямоугольник 17">
            <a:extLst>
              <a:ext uri="{FF2B5EF4-FFF2-40B4-BE49-F238E27FC236}">
                <a16:creationId xmlns:a16="http://schemas.microsoft.com/office/drawing/2014/main" id="{5207F404-7B66-406A-95AE-C4CDDB63CD1C}"/>
              </a:ext>
            </a:extLst>
          </p:cNvPr>
          <p:cNvSpPr>
            <a:spLocks noGrp="1"/>
          </p:cNvSpPr>
          <p:nvPr/>
        </p:nvSpPr>
        <p:spPr>
          <a:xfrm>
            <a:off x="609600" y="438150"/>
            <a:ext cx="10858500" cy="119062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3600" b="1">
                <a:solidFill>
                  <a:srgbClr val="19AAB8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19AAB8"/>
                </a:solidFill>
                <a:latin typeface="Arial"/>
                <a:ea typeface="Arial"/>
                <a:cs typeface="Arial"/>
              </a:rPr>
              <a:t>Решение и границы</a:t>
            </a:r>
          </a:p>
        </p:txBody>
      </p:sp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F3AB0A61-CDC3-407C-9071-108F460B046E}"/>
              </a:ext>
            </a:extLst>
          </p:cNvPr>
          <p:cNvSpPr>
            <a:spLocks noGrp="1"/>
          </p:cNvSpPr>
          <p:nvPr/>
        </p:nvSpPr>
        <p:spPr>
          <a:xfrm>
            <a:off x="0" y="5953125"/>
            <a:ext cx="12192000" cy="904875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</p:sp>
      <p:pic>
        <p:nvPicPr>
          <p:cNvPr id="20" name="Рисунок 19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609600" y="6143625"/>
            <a:ext cx="457200" cy="457200"/>
          </a:xfrm>
          <a:prstGeom prst="rect">
            <a:avLst/>
          </a:prstGeom>
        </p:spPr>
      </p:pic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817FCE93-FE2A-434A-BF43-804718CA4958}"/>
              </a:ext>
            </a:extLst>
          </p:cNvPr>
          <p:cNvSpPr>
            <a:spLocks noGrp="1"/>
          </p:cNvSpPr>
          <p:nvPr/>
        </p:nvSpPr>
        <p:spPr>
          <a:xfrm>
            <a:off x="1143000" y="6134100"/>
            <a:ext cx="1619250" cy="5143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3000" b="1">
                <a:solidFill>
                  <a:srgbClr val="052849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052849"/>
                </a:solidFill>
                <a:latin typeface="Arial"/>
                <a:ea typeface="Arial"/>
                <a:cs typeface="Arial"/>
              </a:rPr>
              <a:t>окели</a:t>
            </a:r>
          </a:p>
        </p:txBody>
      </p:sp>
      <p:pic>
        <p:nvPicPr>
          <p:cNvPr id="22" name="Рисунок 21"/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4762500" y="6115159"/>
            <a:ext cx="1390650" cy="590333"/>
          </a:xfrm>
          <a:prstGeom prst="rect">
            <a:avLst/>
          </a:prstGeom>
        </p:spPr>
      </p:pic>
      <p:pic>
        <p:nvPicPr>
          <p:cNvPr id="23" name="Рисунок 22"/>
          <p:cNvPicPr>
            <a:picLocks noChangeAspect="1"/>
          </p:cNvPicPr>
          <p:nvPr/>
        </p:nvPicPr>
        <p:blipFill>
          <a:blip r:embed="rId5"/>
          <a:stretch/>
        </p:blipFill>
        <p:spPr>
          <a:xfrm>
            <a:off x="9039225" y="6067425"/>
            <a:ext cx="628650" cy="628650"/>
          </a:xfrm>
          <a:prstGeom prst="rect">
            <a:avLst/>
          </a:prstGeom>
        </p:spPr>
      </p:pic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4B2C45E1-0527-4D0D-B55C-676A24646624}"/>
              </a:ext>
            </a:extLst>
          </p:cNvPr>
          <p:cNvSpPr>
            <a:spLocks noGrp="1"/>
          </p:cNvSpPr>
          <p:nvPr/>
        </p:nvSpPr>
        <p:spPr>
          <a:xfrm>
            <a:off x="9829800" y="6305550"/>
            <a:ext cx="1571625" cy="2571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575" b="0">
                <a:solidFill>
                  <a:srgbClr val="052849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052849"/>
                </a:solidFill>
                <a:latin typeface="Arial"/>
                <a:ea typeface="Arial"/>
                <a:cs typeface="Arial"/>
              </a:rPr>
              <a:t>Волгоград</a:t>
            </a:r>
          </a:p>
        </p:txBody>
      </p:sp>
      <p:sp>
        <p:nvSpPr>
          <p:cNvPr id="8" name="Прямоугольник 7">
            <a:extLst>
              <a:ext uri="{FF2B5EF4-FFF2-40B4-BE49-F238E27FC236}">
                <a16:creationId xmlns:a16="http://schemas.microsoft.com/office/drawing/2014/main" id="{2D42790E-08D6-4913-BB25-A29C1FA4A1A8}"/>
              </a:ext>
            </a:extLst>
          </p:cNvPr>
          <p:cNvSpPr>
            <a:spLocks noGrp="1"/>
          </p:cNvSpPr>
          <p:nvPr/>
        </p:nvSpPr>
        <p:spPr>
          <a:xfrm>
            <a:off x="11525250" y="6343650"/>
            <a:ext cx="419100" cy="2095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050" b="0">
                <a:solidFill>
                  <a:srgbClr val="566572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566572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9" name="Прямоугольник 8">
            <a:extLst>
              <a:ext uri="{FF2B5EF4-FFF2-40B4-BE49-F238E27FC236}">
                <a16:creationId xmlns:a16="http://schemas.microsoft.com/office/drawing/2014/main" id="{848AD186-AED9-4DEC-BAB4-1C1AB01E2A45}"/>
              </a:ext>
            </a:extLst>
          </p:cNvPr>
          <p:cNvSpPr>
            <a:spLocks noGrp="1"/>
          </p:cNvSpPr>
          <p:nvPr/>
        </p:nvSpPr>
        <p:spPr>
          <a:xfrm>
            <a:off x="609600" y="1828800"/>
            <a:ext cx="666750" cy="4381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325" b="1">
                <a:solidFill>
                  <a:srgbClr val="19AAB8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9AAB8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10" name="Прямоугольник 9">
            <a:extLst>
              <a:ext uri="{FF2B5EF4-FFF2-40B4-BE49-F238E27FC236}">
                <a16:creationId xmlns:a16="http://schemas.microsoft.com/office/drawing/2014/main" id="{454FDED0-9696-4BD8-AE7C-B5E1AF8E91B6}"/>
              </a:ext>
            </a:extLst>
          </p:cNvPr>
          <p:cNvSpPr>
            <a:spLocks noGrp="1"/>
          </p:cNvSpPr>
          <p:nvPr/>
        </p:nvSpPr>
        <p:spPr>
          <a:xfrm>
            <a:off x="1447800" y="1847850"/>
            <a:ext cx="9858375" cy="609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25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Сценарий: событие регистрации → уточняющий диалог (цель, интересы, время) → карточка с цитатой → черновик наставнику</a:t>
            </a:r>
          </a:p>
        </p:txBody>
      </p:sp>
      <p:sp>
        <p:nvSpPr>
          <p:cNvPr id="11" name="Прямоугольник 10">
            <a:extLst>
              <a:ext uri="{FF2B5EF4-FFF2-40B4-BE49-F238E27FC236}">
                <a16:creationId xmlns:a16="http://schemas.microsoft.com/office/drawing/2014/main" id="{D1FA9C5B-EC1C-41CA-B23A-7D7144690F1D}"/>
              </a:ext>
            </a:extLst>
          </p:cNvPr>
          <p:cNvSpPr>
            <a:spLocks noGrp="1"/>
          </p:cNvSpPr>
          <p:nvPr/>
        </p:nvSpPr>
        <p:spPr>
          <a:xfrm>
            <a:off x="609600" y="2590800"/>
            <a:ext cx="666750" cy="4381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325" b="1">
                <a:solidFill>
                  <a:srgbClr val="19AAB8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9AAB8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12" name="Прямоугольник 11">
            <a:extLst>
              <a:ext uri="{FF2B5EF4-FFF2-40B4-BE49-F238E27FC236}">
                <a16:creationId xmlns:a16="http://schemas.microsoft.com/office/drawing/2014/main" id="{E2717D97-08A4-4014-95B6-986E9C733300}"/>
              </a:ext>
            </a:extLst>
          </p:cNvPr>
          <p:cNvSpPr>
            <a:spLocks noGrp="1"/>
          </p:cNvSpPr>
          <p:nvPr/>
        </p:nvSpPr>
        <p:spPr>
          <a:xfrm>
            <a:off x="1447800" y="2609850"/>
            <a:ext cx="9858375" cy="609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25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В прототипе: aiogram-бот + движок правил + SQLite, LLM-извлечение (qwen2.5:7b); 12/12 тестов кейса — 172/172 проверок</a:t>
            </a:r>
          </a:p>
        </p:txBody>
      </p:sp>
      <p:sp>
        <p:nvSpPr>
          <p:cNvPr id="13" name="Прямоугольник 12">
            <a:extLst>
              <a:ext uri="{FF2B5EF4-FFF2-40B4-BE49-F238E27FC236}">
                <a16:creationId xmlns:a16="http://schemas.microsoft.com/office/drawing/2014/main" id="{A8521A9D-96EA-4DCC-8C45-A6C801051938}"/>
              </a:ext>
            </a:extLst>
          </p:cNvPr>
          <p:cNvSpPr>
            <a:spLocks noGrp="1"/>
          </p:cNvSpPr>
          <p:nvPr/>
        </p:nvSpPr>
        <p:spPr>
          <a:xfrm>
            <a:off x="609600" y="3352800"/>
            <a:ext cx="666750" cy="4381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325" b="1">
                <a:solidFill>
                  <a:srgbClr val="19AAB8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9AAB8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14" name="Прямоугольник 13">
            <a:extLst>
              <a:ext uri="{FF2B5EF4-FFF2-40B4-BE49-F238E27FC236}">
                <a16:creationId xmlns:a16="http://schemas.microsoft.com/office/drawing/2014/main" id="{2122D8C5-1F66-4304-989D-8D603C5573EB}"/>
              </a:ext>
            </a:extLst>
          </p:cNvPr>
          <p:cNvSpPr>
            <a:spLocks noGrp="1"/>
          </p:cNvSpPr>
          <p:nvPr/>
        </p:nvSpPr>
        <p:spPr>
          <a:xfrm>
            <a:off x="1447800" y="3371850"/>
            <a:ext cx="9858375" cy="609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25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Пока не реализовано: канал в мессенджере MAX, боевые данные и аккаунты, действия за клиента (регистрация, оплата)</a:t>
            </a:r>
          </a:p>
        </p:txBody>
      </p:sp>
      <p:sp>
        <p:nvSpPr>
          <p:cNvPr id="15" name="Прямоугольник 14">
            <a:extLst>
              <a:ext uri="{FF2B5EF4-FFF2-40B4-BE49-F238E27FC236}">
                <a16:creationId xmlns:a16="http://schemas.microsoft.com/office/drawing/2014/main" id="{494A94DF-6B10-4F5F-96C2-5E7545CBD8A7}"/>
              </a:ext>
            </a:extLst>
          </p:cNvPr>
          <p:cNvSpPr>
            <a:spLocks noGrp="1"/>
          </p:cNvSpPr>
          <p:nvPr/>
        </p:nvSpPr>
        <p:spPr>
          <a:xfrm>
            <a:off x="609600" y="4114800"/>
            <a:ext cx="666750" cy="4381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325" b="1">
                <a:solidFill>
                  <a:srgbClr val="19AAB8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9AAB8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16" name="Прямоугольник 15">
            <a:extLst>
              <a:ext uri="{FF2B5EF4-FFF2-40B4-BE49-F238E27FC236}">
                <a16:creationId xmlns:a16="http://schemas.microsoft.com/office/drawing/2014/main" id="{579CA8D2-6EE7-4498-AB49-451004E1D069}"/>
              </a:ext>
            </a:extLst>
          </p:cNvPr>
          <p:cNvSpPr>
            <a:spLocks noGrp="1"/>
          </p:cNvSpPr>
          <p:nvPr/>
        </p:nvSpPr>
        <p:spPr>
          <a:xfrm>
            <a:off x="1447800" y="4133850"/>
            <a:ext cx="9858375" cy="609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25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Контроль человеком: сообщения наставнику — только черновики (requires_human_approval); автоотправка клиенту запрещена</a:t>
            </a:r>
          </a:p>
        </p:txBody>
      </p:sp>
      <p:sp>
        <p:nvSpPr>
          <p:cNvPr id="17" name="Прямоугольник 16">
            <a:extLst>
              <a:ext uri="{FF2B5EF4-FFF2-40B4-BE49-F238E27FC236}">
                <a16:creationId xmlns:a16="http://schemas.microsoft.com/office/drawing/2014/main" id="{37FFFBAF-75F3-48EC-A579-6FB378119BEF}"/>
              </a:ext>
            </a:extLst>
          </p:cNvPr>
          <p:cNvSpPr>
            <a:spLocks noGrp="1"/>
          </p:cNvSpPr>
          <p:nvPr/>
        </p:nvSpPr>
        <p:spPr>
          <a:xfrm>
            <a:off x="609600" y="5248275"/>
            <a:ext cx="10763250" cy="5905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350" b="0">
                <a:solidFill>
                  <a:srgbClr val="D4E5E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D4E5EA"/>
                </a:solidFill>
                <a:latin typeface="Arial"/>
                <a:ea typeface="Arial"/>
                <a:cs typeface="Arial"/>
              </a:rPr>
              <a:t>Помощник не обещает доход и лечебные свойства, не выдумывает акции; один законченный сценарий показан в демо.</a:t>
            </a:r>
          </a:p>
        </p:txBody>
      </p:sp>
    </p:spTree>
    <p:extLst>
      <p:ext uri="{BB962C8B-B14F-4D97-AF65-F5344CB8AC3E}">
        <p14:creationId xmlns:p14="http://schemas.microsoft.com/office/powerpoint/2010/main" val="170902481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8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Прямоугольник 17">
            <a:extLst>
              <a:ext uri="{FF2B5EF4-FFF2-40B4-BE49-F238E27FC236}">
                <a16:creationId xmlns:a16="http://schemas.microsoft.com/office/drawing/2014/main" id="{542A34CC-A3D0-46DA-92D1-0561E08A4809}"/>
              </a:ext>
            </a:extLst>
          </p:cNvPr>
          <p:cNvSpPr>
            <a:spLocks noGrp="1"/>
          </p:cNvSpPr>
          <p:nvPr/>
        </p:nvSpPr>
        <p:spPr>
          <a:xfrm>
            <a:off x="609600" y="438150"/>
            <a:ext cx="10858500" cy="119062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3600" b="1">
                <a:solidFill>
                  <a:srgbClr val="052849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052849"/>
                </a:solidFill>
                <a:latin typeface="Arial"/>
                <a:ea typeface="Arial"/>
                <a:cs typeface="Arial"/>
              </a:rPr>
              <a:t>Данные и технический подход</a:t>
            </a:r>
          </a:p>
        </p:txBody>
      </p:sp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0D48409C-59FC-4433-B24F-997F5AA02C7C}"/>
              </a:ext>
            </a:extLst>
          </p:cNvPr>
          <p:cNvSpPr>
            <a:spLocks noGrp="1"/>
          </p:cNvSpPr>
          <p:nvPr/>
        </p:nvSpPr>
        <p:spPr>
          <a:xfrm>
            <a:off x="0" y="5953125"/>
            <a:ext cx="12192000" cy="904875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</p:sp>
      <p:pic>
        <p:nvPicPr>
          <p:cNvPr id="20" name="Рисунок 19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609600" y="6143625"/>
            <a:ext cx="457200" cy="457200"/>
          </a:xfrm>
          <a:prstGeom prst="rect">
            <a:avLst/>
          </a:prstGeom>
        </p:spPr>
      </p:pic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A2E10167-6C78-49BC-B131-038FDABE984B}"/>
              </a:ext>
            </a:extLst>
          </p:cNvPr>
          <p:cNvSpPr>
            <a:spLocks noGrp="1"/>
          </p:cNvSpPr>
          <p:nvPr/>
        </p:nvSpPr>
        <p:spPr>
          <a:xfrm>
            <a:off x="1143000" y="6134100"/>
            <a:ext cx="1619250" cy="5143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3000" b="1">
                <a:solidFill>
                  <a:srgbClr val="052849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052849"/>
                </a:solidFill>
                <a:latin typeface="Arial"/>
                <a:ea typeface="Arial"/>
                <a:cs typeface="Arial"/>
              </a:rPr>
              <a:t>окели</a:t>
            </a:r>
          </a:p>
        </p:txBody>
      </p:sp>
      <p:pic>
        <p:nvPicPr>
          <p:cNvPr id="22" name="Рисунок 21"/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4762500" y="6115159"/>
            <a:ext cx="1390650" cy="590333"/>
          </a:xfrm>
          <a:prstGeom prst="rect">
            <a:avLst/>
          </a:prstGeom>
        </p:spPr>
      </p:pic>
      <p:pic>
        <p:nvPicPr>
          <p:cNvPr id="23" name="Рисунок 22"/>
          <p:cNvPicPr>
            <a:picLocks noChangeAspect="1"/>
          </p:cNvPicPr>
          <p:nvPr/>
        </p:nvPicPr>
        <p:blipFill>
          <a:blip r:embed="rId5"/>
          <a:stretch/>
        </p:blipFill>
        <p:spPr>
          <a:xfrm>
            <a:off x="9039225" y="6067425"/>
            <a:ext cx="628650" cy="628650"/>
          </a:xfrm>
          <a:prstGeom prst="rect">
            <a:avLst/>
          </a:prstGeom>
        </p:spPr>
      </p:pic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F1C26C12-D7BC-4832-9104-607EB769D341}"/>
              </a:ext>
            </a:extLst>
          </p:cNvPr>
          <p:cNvSpPr>
            <a:spLocks noGrp="1"/>
          </p:cNvSpPr>
          <p:nvPr/>
        </p:nvSpPr>
        <p:spPr>
          <a:xfrm>
            <a:off x="9829800" y="6305550"/>
            <a:ext cx="1571625" cy="2571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575" b="0">
                <a:solidFill>
                  <a:srgbClr val="052849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052849"/>
                </a:solidFill>
                <a:latin typeface="Arial"/>
                <a:ea typeface="Arial"/>
                <a:cs typeface="Arial"/>
              </a:rPr>
              <a:t>Волгоград</a:t>
            </a:r>
          </a:p>
        </p:txBody>
      </p:sp>
      <p:sp>
        <p:nvSpPr>
          <p:cNvPr id="8" name="Прямоугольник 7">
            <a:extLst>
              <a:ext uri="{FF2B5EF4-FFF2-40B4-BE49-F238E27FC236}">
                <a16:creationId xmlns:a16="http://schemas.microsoft.com/office/drawing/2014/main" id="{078FCB59-63E2-48D8-93B9-07B007F2CC80}"/>
              </a:ext>
            </a:extLst>
          </p:cNvPr>
          <p:cNvSpPr>
            <a:spLocks noGrp="1"/>
          </p:cNvSpPr>
          <p:nvPr/>
        </p:nvSpPr>
        <p:spPr>
          <a:xfrm>
            <a:off x="11525250" y="6343650"/>
            <a:ext cx="419100" cy="2095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050" b="0">
                <a:solidFill>
                  <a:srgbClr val="566572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566572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  <p:sp>
        <p:nvSpPr>
          <p:cNvPr id="9" name="Прямоугольник 8">
            <a:extLst>
              <a:ext uri="{FF2B5EF4-FFF2-40B4-BE49-F238E27FC236}">
                <a16:creationId xmlns:a16="http://schemas.microsoft.com/office/drawing/2014/main" id="{4C5D3B41-2CA8-44E8-AA91-B7AC7308ABF9}"/>
              </a:ext>
            </a:extLst>
          </p:cNvPr>
          <p:cNvSpPr>
            <a:spLocks noGrp="1"/>
          </p:cNvSpPr>
          <p:nvPr/>
        </p:nvSpPr>
        <p:spPr>
          <a:xfrm>
            <a:off x="609600" y="1828800"/>
            <a:ext cx="666750" cy="4381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325" b="1">
                <a:solidFill>
                  <a:srgbClr val="018A98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018A98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10" name="Прямоугольник 9">
            <a:extLst>
              <a:ext uri="{FF2B5EF4-FFF2-40B4-BE49-F238E27FC236}">
                <a16:creationId xmlns:a16="http://schemas.microsoft.com/office/drawing/2014/main" id="{33C7A6E5-2E93-45BA-8210-F135FB6BDE6C}"/>
              </a:ext>
            </a:extLst>
          </p:cNvPr>
          <p:cNvSpPr>
            <a:spLocks noGrp="1"/>
          </p:cNvSpPr>
          <p:nvPr/>
        </p:nvSpPr>
        <p:spPr>
          <a:xfrm>
            <a:off x="1447800" y="1847850"/>
            <a:ext cx="9858375" cy="609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250" b="0">
                <a:solidFill>
                  <a:srgbClr val="052849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052849"/>
                </a:solidFill>
                <a:latin typeface="Arial"/>
                <a:ea typeface="Arial"/>
                <a:cs typeface="Arial"/>
              </a:rPr>
              <a:t>Данные: учебные события tests.json и выгрузка сайта — 10 вымышленных карточек; реальных персональных данных нет</a:t>
            </a:r>
          </a:p>
        </p:txBody>
      </p:sp>
      <p:sp>
        <p:nvSpPr>
          <p:cNvPr id="11" name="Прямоугольник 10">
            <a:extLst>
              <a:ext uri="{FF2B5EF4-FFF2-40B4-BE49-F238E27FC236}">
                <a16:creationId xmlns:a16="http://schemas.microsoft.com/office/drawing/2014/main" id="{E1D3BD36-1D1C-4F1A-B86B-6A8EAAEAA278}"/>
              </a:ext>
            </a:extLst>
          </p:cNvPr>
          <p:cNvSpPr>
            <a:spLocks noGrp="1"/>
          </p:cNvSpPr>
          <p:nvPr/>
        </p:nvSpPr>
        <p:spPr>
          <a:xfrm>
            <a:off x="609600" y="2590800"/>
            <a:ext cx="666750" cy="4381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325" b="1">
                <a:solidFill>
                  <a:srgbClr val="018A98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018A98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12" name="Прямоугольник 11">
            <a:extLst>
              <a:ext uri="{FF2B5EF4-FFF2-40B4-BE49-F238E27FC236}">
                <a16:creationId xmlns:a16="http://schemas.microsoft.com/office/drawing/2014/main" id="{CB373DB5-DE63-4C19-A28C-84BF0E2CAA3D}"/>
              </a:ext>
            </a:extLst>
          </p:cNvPr>
          <p:cNvSpPr>
            <a:spLocks noGrp="1"/>
          </p:cNvSpPr>
          <p:nvPr/>
        </p:nvSpPr>
        <p:spPr>
          <a:xfrm>
            <a:off x="1447800" y="2609850"/>
            <a:ext cx="9858375" cy="609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250" b="0">
                <a:solidFill>
                  <a:srgbClr val="052849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052849"/>
                </a:solidFill>
                <a:latin typeface="Arial"/>
                <a:ea typeface="Arial"/>
                <a:cs typeface="Arial"/>
              </a:rPr>
              <a:t>Подход: LLM извлекает структуру из свободных ответов, движок правил гарантирует границы кейса; диалог — FSM с переспросом</a:t>
            </a:r>
          </a:p>
        </p:txBody>
      </p:sp>
      <p:sp>
        <p:nvSpPr>
          <p:cNvPr id="13" name="Прямоугольник 12">
            <a:extLst>
              <a:ext uri="{FF2B5EF4-FFF2-40B4-BE49-F238E27FC236}">
                <a16:creationId xmlns:a16="http://schemas.microsoft.com/office/drawing/2014/main" id="{80714631-353D-46B9-A8E5-37A30B0850CC}"/>
              </a:ext>
            </a:extLst>
          </p:cNvPr>
          <p:cNvSpPr>
            <a:spLocks noGrp="1"/>
          </p:cNvSpPr>
          <p:nvPr/>
        </p:nvSpPr>
        <p:spPr>
          <a:xfrm>
            <a:off x="609600" y="3352800"/>
            <a:ext cx="666750" cy="4381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325" b="1">
                <a:solidFill>
                  <a:srgbClr val="018A98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018A98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14" name="Прямоугольник 13">
            <a:extLst>
              <a:ext uri="{FF2B5EF4-FFF2-40B4-BE49-F238E27FC236}">
                <a16:creationId xmlns:a16="http://schemas.microsoft.com/office/drawing/2014/main" id="{6ADEAFF7-B182-4547-8FCE-101BE46ADA12}"/>
              </a:ext>
            </a:extLst>
          </p:cNvPr>
          <p:cNvSpPr>
            <a:spLocks noGrp="1"/>
          </p:cNvSpPr>
          <p:nvPr/>
        </p:nvSpPr>
        <p:spPr>
          <a:xfrm>
            <a:off x="1447800" y="3371850"/>
            <a:ext cx="9858375" cy="609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250" b="0">
                <a:solidFill>
                  <a:srgbClr val="052849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052849"/>
                </a:solidFill>
                <a:latin typeface="Arial"/>
                <a:ea typeface="Arial"/>
                <a:cs typeface="Arial"/>
              </a:rPr>
              <a:t>Среда: Python 3.11, aiogram 3, SQLite; локальная модель qwen2.5:7b-instruct через Ollama</a:t>
            </a:r>
          </a:p>
        </p:txBody>
      </p:sp>
      <p:sp>
        <p:nvSpPr>
          <p:cNvPr id="15" name="Прямоугольник 14">
            <a:extLst>
              <a:ext uri="{FF2B5EF4-FFF2-40B4-BE49-F238E27FC236}">
                <a16:creationId xmlns:a16="http://schemas.microsoft.com/office/drawing/2014/main" id="{9AA8FD0D-7901-46E1-AF5A-FE5F2414AF95}"/>
              </a:ext>
            </a:extLst>
          </p:cNvPr>
          <p:cNvSpPr>
            <a:spLocks noGrp="1"/>
          </p:cNvSpPr>
          <p:nvPr/>
        </p:nvSpPr>
        <p:spPr>
          <a:xfrm>
            <a:off x="609600" y="4114800"/>
            <a:ext cx="666750" cy="4381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325" b="1">
                <a:solidFill>
                  <a:srgbClr val="018A98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018A98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16" name="Прямоугольник 15">
            <a:extLst>
              <a:ext uri="{FF2B5EF4-FFF2-40B4-BE49-F238E27FC236}">
                <a16:creationId xmlns:a16="http://schemas.microsoft.com/office/drawing/2014/main" id="{9842A003-EB83-4E73-BDB6-CFDD04A0D6FD}"/>
              </a:ext>
            </a:extLst>
          </p:cNvPr>
          <p:cNvSpPr>
            <a:spLocks noGrp="1"/>
          </p:cNvSpPr>
          <p:nvPr/>
        </p:nvSpPr>
        <p:spPr>
          <a:xfrm>
            <a:off x="1447800" y="4133850"/>
            <a:ext cx="9858375" cy="609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250" b="0">
                <a:solidFill>
                  <a:srgbClr val="052849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052849"/>
                </a:solidFill>
                <a:latin typeface="Arial"/>
                <a:ea typeface="Arial"/>
                <a:cs typeface="Arial"/>
              </a:rPr>
              <a:t>Ограничения: локальная 7B-модель слабее облачной; API MAX нестабильны; ключи — только в .env вне репозитория</a:t>
            </a:r>
          </a:p>
        </p:txBody>
      </p:sp>
      <p:sp>
        <p:nvSpPr>
          <p:cNvPr id="17" name="Прямоугольник 16">
            <a:extLst>
              <a:ext uri="{FF2B5EF4-FFF2-40B4-BE49-F238E27FC236}">
                <a16:creationId xmlns:a16="http://schemas.microsoft.com/office/drawing/2014/main" id="{4ED9D203-33EF-4FD2-9609-8133684BDFB2}"/>
              </a:ext>
            </a:extLst>
          </p:cNvPr>
          <p:cNvSpPr>
            <a:spLocks noGrp="1"/>
          </p:cNvSpPr>
          <p:nvPr/>
        </p:nvSpPr>
        <p:spPr>
          <a:xfrm>
            <a:off x="609600" y="5248275"/>
            <a:ext cx="10763250" cy="5905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350" b="0">
                <a:solidFill>
                  <a:srgbClr val="566572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66572"/>
                </a:solidFill>
                <a:latin typeface="Arial"/>
                <a:ea typeface="Arial"/>
                <a:cs typeface="Arial"/>
              </a:rPr>
              <a:t>Данные вымышленные, реальных персональных данных нет; токены и ключи в слайдах не показываются.</a:t>
            </a:r>
          </a:p>
        </p:txBody>
      </p:sp>
    </p:spTree>
    <p:extLst>
      <p:ext uri="{BB962C8B-B14F-4D97-AF65-F5344CB8AC3E}">
        <p14:creationId xmlns:p14="http://schemas.microsoft.com/office/powerpoint/2010/main" val="197318410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5284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Прямоугольник 17">
            <a:extLst>
              <a:ext uri="{FF2B5EF4-FFF2-40B4-BE49-F238E27FC236}">
                <a16:creationId xmlns:a16="http://schemas.microsoft.com/office/drawing/2014/main" id="{297DE71D-C8F7-441E-A974-74471E7E7FCB}"/>
              </a:ext>
            </a:extLst>
          </p:cNvPr>
          <p:cNvSpPr>
            <a:spLocks noGrp="1"/>
          </p:cNvSpPr>
          <p:nvPr/>
        </p:nvSpPr>
        <p:spPr>
          <a:xfrm>
            <a:off x="609600" y="438150"/>
            <a:ext cx="10858500" cy="119062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3600" b="1">
                <a:solidFill>
                  <a:srgbClr val="19AAB8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19AAB8"/>
                </a:solidFill>
                <a:latin typeface="Arial"/>
                <a:ea typeface="Arial"/>
                <a:cs typeface="Arial"/>
              </a:rPr>
              <a:t>Демонстрация прототипа</a:t>
            </a:r>
          </a:p>
        </p:txBody>
      </p:sp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59325892-07A3-4C22-BF00-189E9711A62B}"/>
              </a:ext>
            </a:extLst>
          </p:cNvPr>
          <p:cNvSpPr>
            <a:spLocks noGrp="1"/>
          </p:cNvSpPr>
          <p:nvPr/>
        </p:nvSpPr>
        <p:spPr>
          <a:xfrm>
            <a:off x="0" y="5953125"/>
            <a:ext cx="12192000" cy="904875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</p:sp>
      <p:pic>
        <p:nvPicPr>
          <p:cNvPr id="20" name="Рисунок 19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609600" y="6143625"/>
            <a:ext cx="457200" cy="457200"/>
          </a:xfrm>
          <a:prstGeom prst="rect">
            <a:avLst/>
          </a:prstGeom>
        </p:spPr>
      </p:pic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7E0D6738-C1AE-43EF-B09B-BF435ED2D592}"/>
              </a:ext>
            </a:extLst>
          </p:cNvPr>
          <p:cNvSpPr>
            <a:spLocks noGrp="1"/>
          </p:cNvSpPr>
          <p:nvPr/>
        </p:nvSpPr>
        <p:spPr>
          <a:xfrm>
            <a:off x="1143000" y="6134100"/>
            <a:ext cx="1619250" cy="5143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3000" b="1">
                <a:solidFill>
                  <a:srgbClr val="052849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052849"/>
                </a:solidFill>
                <a:latin typeface="Arial"/>
                <a:ea typeface="Arial"/>
                <a:cs typeface="Arial"/>
              </a:rPr>
              <a:t>окели</a:t>
            </a:r>
          </a:p>
        </p:txBody>
      </p:sp>
      <p:pic>
        <p:nvPicPr>
          <p:cNvPr id="22" name="Рисунок 21"/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4762500" y="6115159"/>
            <a:ext cx="1390650" cy="590333"/>
          </a:xfrm>
          <a:prstGeom prst="rect">
            <a:avLst/>
          </a:prstGeom>
        </p:spPr>
      </p:pic>
      <p:pic>
        <p:nvPicPr>
          <p:cNvPr id="23" name="Рисунок 22"/>
          <p:cNvPicPr>
            <a:picLocks noChangeAspect="1"/>
          </p:cNvPicPr>
          <p:nvPr/>
        </p:nvPicPr>
        <p:blipFill>
          <a:blip r:embed="rId5"/>
          <a:stretch/>
        </p:blipFill>
        <p:spPr>
          <a:xfrm>
            <a:off x="9039225" y="6067425"/>
            <a:ext cx="628650" cy="628650"/>
          </a:xfrm>
          <a:prstGeom prst="rect">
            <a:avLst/>
          </a:prstGeom>
        </p:spPr>
      </p:pic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AAB487BE-3C5F-4FCE-ABD3-7B1CBC0A3EA5}"/>
              </a:ext>
            </a:extLst>
          </p:cNvPr>
          <p:cNvSpPr>
            <a:spLocks noGrp="1"/>
          </p:cNvSpPr>
          <p:nvPr/>
        </p:nvSpPr>
        <p:spPr>
          <a:xfrm>
            <a:off x="9829800" y="6305550"/>
            <a:ext cx="1571625" cy="2571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575" b="0">
                <a:solidFill>
                  <a:srgbClr val="052849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052849"/>
                </a:solidFill>
                <a:latin typeface="Arial"/>
                <a:ea typeface="Arial"/>
                <a:cs typeface="Arial"/>
              </a:rPr>
              <a:t>Волгоград</a:t>
            </a:r>
          </a:p>
        </p:txBody>
      </p:sp>
      <p:sp>
        <p:nvSpPr>
          <p:cNvPr id="8" name="Прямоугольник 7">
            <a:extLst>
              <a:ext uri="{FF2B5EF4-FFF2-40B4-BE49-F238E27FC236}">
                <a16:creationId xmlns:a16="http://schemas.microsoft.com/office/drawing/2014/main" id="{2D6AD52C-75CC-4D72-A14C-9F80F575AAE9}"/>
              </a:ext>
            </a:extLst>
          </p:cNvPr>
          <p:cNvSpPr>
            <a:spLocks noGrp="1"/>
          </p:cNvSpPr>
          <p:nvPr/>
        </p:nvSpPr>
        <p:spPr>
          <a:xfrm>
            <a:off x="11525250" y="6343650"/>
            <a:ext cx="419100" cy="2095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050" b="0">
                <a:solidFill>
                  <a:srgbClr val="566572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566572"/>
                </a:solidFill>
                <a:latin typeface="Arial"/>
                <a:ea typeface="Arial"/>
                <a:cs typeface="Arial"/>
              </a:rPr>
              <a:t>06</a:t>
            </a:r>
          </a:p>
        </p:txBody>
      </p:sp>
      <p:sp>
        <p:nvSpPr>
          <p:cNvPr id="9" name="Прямоугольник 8">
            <a:extLst>
              <a:ext uri="{FF2B5EF4-FFF2-40B4-BE49-F238E27FC236}">
                <a16:creationId xmlns:a16="http://schemas.microsoft.com/office/drawing/2014/main" id="{077160DE-62AB-4D44-BBAC-217148B55954}"/>
              </a:ext>
            </a:extLst>
          </p:cNvPr>
          <p:cNvSpPr>
            <a:spLocks noGrp="1"/>
          </p:cNvSpPr>
          <p:nvPr/>
        </p:nvSpPr>
        <p:spPr>
          <a:xfrm>
            <a:off x="609600" y="1828800"/>
            <a:ext cx="666750" cy="4381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325" b="1">
                <a:solidFill>
                  <a:srgbClr val="19AAB8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9AAB8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10" name="Прямоугольник 9">
            <a:extLst>
              <a:ext uri="{FF2B5EF4-FFF2-40B4-BE49-F238E27FC236}">
                <a16:creationId xmlns:a16="http://schemas.microsoft.com/office/drawing/2014/main" id="{47324CF7-5CDA-4359-B313-DA58469B7059}"/>
              </a:ext>
            </a:extLst>
          </p:cNvPr>
          <p:cNvSpPr>
            <a:spLocks noGrp="1"/>
          </p:cNvSpPr>
          <p:nvPr/>
        </p:nvSpPr>
        <p:spPr>
          <a:xfrm>
            <a:off x="1447800" y="1847850"/>
            <a:ext cx="6096000" cy="609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25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Сценарий демо: F002 → «доход» → карточка с evidence и next_action</a:t>
            </a:r>
          </a:p>
        </p:txBody>
      </p:sp>
      <p:sp>
        <p:nvSpPr>
          <p:cNvPr id="11" name="Прямоугольник 10">
            <a:extLst>
              <a:ext uri="{FF2B5EF4-FFF2-40B4-BE49-F238E27FC236}">
                <a16:creationId xmlns:a16="http://schemas.microsoft.com/office/drawing/2014/main" id="{937FCB1F-C889-4200-AE9D-E2C415BD4ACB}"/>
              </a:ext>
            </a:extLst>
          </p:cNvPr>
          <p:cNvSpPr>
            <a:spLocks noGrp="1"/>
          </p:cNvSpPr>
          <p:nvPr/>
        </p:nvSpPr>
        <p:spPr>
          <a:xfrm>
            <a:off x="609600" y="2590800"/>
            <a:ext cx="666750" cy="4381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325" b="1">
                <a:solidFill>
                  <a:srgbClr val="19AAB8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9AAB8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12" name="Прямоугольник 11">
            <a:extLst>
              <a:ext uri="{FF2B5EF4-FFF2-40B4-BE49-F238E27FC236}">
                <a16:creationId xmlns:a16="http://schemas.microsoft.com/office/drawing/2014/main" id="{DA5EB6C5-32E5-4FCF-89D4-34A076F6BE5C}"/>
              </a:ext>
            </a:extLst>
          </p:cNvPr>
          <p:cNvSpPr>
            <a:spLocks noGrp="1"/>
          </p:cNvSpPr>
          <p:nvPr/>
        </p:nvSpPr>
        <p:spPr>
          <a:xfrm>
            <a:off x="1447800" y="2609850"/>
            <a:ext cx="6096000" cy="609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25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Вход: учебное событие регистрации + свободный ответ клиента</a:t>
            </a:r>
          </a:p>
        </p:txBody>
      </p:sp>
      <p:sp>
        <p:nvSpPr>
          <p:cNvPr id="13" name="Прямоугольник 12">
            <a:extLst>
              <a:ext uri="{FF2B5EF4-FFF2-40B4-BE49-F238E27FC236}">
                <a16:creationId xmlns:a16="http://schemas.microsoft.com/office/drawing/2014/main" id="{E47A585D-F4B5-4D6A-9431-C425F1F18A2A}"/>
              </a:ext>
            </a:extLst>
          </p:cNvPr>
          <p:cNvSpPr>
            <a:spLocks noGrp="1"/>
          </p:cNvSpPr>
          <p:nvPr/>
        </p:nvSpPr>
        <p:spPr>
          <a:xfrm>
            <a:off x="609600" y="3352800"/>
            <a:ext cx="666750" cy="4381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325" b="1">
                <a:solidFill>
                  <a:srgbClr val="19AAB8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9AAB8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14" name="Прямоугольник 13">
            <a:extLst>
              <a:ext uri="{FF2B5EF4-FFF2-40B4-BE49-F238E27FC236}">
                <a16:creationId xmlns:a16="http://schemas.microsoft.com/office/drawing/2014/main" id="{740A64E1-4116-462E-B8A4-8737CD459B9C}"/>
              </a:ext>
            </a:extLst>
          </p:cNvPr>
          <p:cNvSpPr>
            <a:spLocks noGrp="1"/>
          </p:cNvSpPr>
          <p:nvPr/>
        </p:nvSpPr>
        <p:spPr>
          <a:xfrm>
            <a:off x="1447800" y="3371850"/>
            <a:ext cx="6096000" cy="609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25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Выход: карточка и черновик сообщения наставнику</a:t>
            </a:r>
          </a:p>
        </p:txBody>
      </p:sp>
      <p:sp>
        <p:nvSpPr>
          <p:cNvPr id="15" name="Прямоугольник 14">
            <a:extLst>
              <a:ext uri="{FF2B5EF4-FFF2-40B4-BE49-F238E27FC236}">
                <a16:creationId xmlns:a16="http://schemas.microsoft.com/office/drawing/2014/main" id="{B0B9654F-734E-4C36-A088-5CEBAEDBBE39}"/>
              </a:ext>
            </a:extLst>
          </p:cNvPr>
          <p:cNvSpPr>
            <a:spLocks noGrp="1"/>
          </p:cNvSpPr>
          <p:nvPr/>
        </p:nvSpPr>
        <p:spPr>
          <a:xfrm>
            <a:off x="609600" y="4114800"/>
            <a:ext cx="666750" cy="4381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325" b="1">
                <a:solidFill>
                  <a:srgbClr val="19AAB8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9AAB8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16" name="Прямоугольник 15">
            <a:extLst>
              <a:ext uri="{FF2B5EF4-FFF2-40B4-BE49-F238E27FC236}">
                <a16:creationId xmlns:a16="http://schemas.microsoft.com/office/drawing/2014/main" id="{6827AD62-ACA3-4FDF-822C-B57D9D17CFEF}"/>
              </a:ext>
            </a:extLst>
          </p:cNvPr>
          <p:cNvSpPr>
            <a:spLocks noGrp="1"/>
          </p:cNvSpPr>
          <p:nvPr/>
        </p:nvSpPr>
        <p:spPr>
          <a:xfrm>
            <a:off x="1447800" y="4133850"/>
            <a:ext cx="6096000" cy="609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25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Резерв: 2-минутное видео прогона — в репозитории</a:t>
            </a:r>
          </a:p>
        </p:txBody>
      </p:sp>
      <p:sp>
        <p:nvSpPr>
          <p:cNvPr id="17" name="Прямоугольник 16">
            <a:extLst>
              <a:ext uri="{FF2B5EF4-FFF2-40B4-BE49-F238E27FC236}">
                <a16:creationId xmlns:a16="http://schemas.microsoft.com/office/drawing/2014/main" id="{B281FF8D-EF85-4711-86E3-FCE486F23FE2}"/>
              </a:ext>
            </a:extLst>
          </p:cNvPr>
          <p:cNvSpPr>
            <a:spLocks noGrp="1"/>
          </p:cNvSpPr>
          <p:nvPr/>
        </p:nvSpPr>
        <p:spPr>
          <a:xfrm>
            <a:off x="609600" y="5248275"/>
            <a:ext cx="10763250" cy="5905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350" b="0">
                <a:solidFill>
                  <a:srgbClr val="D4E5E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D4E5EA"/>
                </a:solidFill>
                <a:latin typeface="Arial"/>
                <a:ea typeface="Arial"/>
                <a:cs typeface="Arial"/>
              </a:rPr>
              <a:t>Тот же сценарий воспроизводится в сданной версии: python app.py + scripts/run_tests.py.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874000" y="1905000"/>
            <a:ext cx="3810000" cy="2921000"/>
          </a:xfrm>
          <a:prstGeom prst="rect">
            <a:avLst/>
          </a:prstGeom>
          <a:solidFill>
            <a:srgbClr val="F2F2F2"/>
          </a:solidFill>
          <a:ln>
            <a:solidFill>
              <a:srgbClr val="9AA5B1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>
                <a:solidFill>
                  <a:srgbClr val="9AA5B1"/>
                </a:solidFill>
              </a:rPr>
              <a:t>Скриншот рабочего сценария — вставить</a:t>
            </a:r>
          </a:p>
        </p:txBody>
      </p:sp>
    </p:spTree>
    <p:extLst>
      <p:ext uri="{BB962C8B-B14F-4D97-AF65-F5344CB8AC3E}">
        <p14:creationId xmlns:p14="http://schemas.microsoft.com/office/powerpoint/2010/main" val="8366852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8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Прямоугольник 17">
            <a:extLst>
              <a:ext uri="{FF2B5EF4-FFF2-40B4-BE49-F238E27FC236}">
                <a16:creationId xmlns:a16="http://schemas.microsoft.com/office/drawing/2014/main" id="{9BFB8A71-0D31-4A9B-89CD-5DADB90BA659}"/>
              </a:ext>
            </a:extLst>
          </p:cNvPr>
          <p:cNvSpPr>
            <a:spLocks noGrp="1"/>
          </p:cNvSpPr>
          <p:nvPr/>
        </p:nvSpPr>
        <p:spPr>
          <a:xfrm>
            <a:off x="609600" y="438150"/>
            <a:ext cx="10858500" cy="119062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3600" b="1">
                <a:solidFill>
                  <a:srgbClr val="052849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052849"/>
                </a:solidFill>
                <a:latin typeface="Arial"/>
                <a:ea typeface="Arial"/>
                <a:cs typeface="Arial"/>
              </a:rPr>
              <a:t>Проверка результата</a:t>
            </a:r>
          </a:p>
        </p:txBody>
      </p:sp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FC48568B-A510-4C07-9095-5B305366D66E}"/>
              </a:ext>
            </a:extLst>
          </p:cNvPr>
          <p:cNvSpPr>
            <a:spLocks noGrp="1"/>
          </p:cNvSpPr>
          <p:nvPr/>
        </p:nvSpPr>
        <p:spPr>
          <a:xfrm>
            <a:off x="0" y="5953125"/>
            <a:ext cx="12192000" cy="904875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</p:sp>
      <p:pic>
        <p:nvPicPr>
          <p:cNvPr id="20" name="Рисунок 19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609600" y="6143625"/>
            <a:ext cx="457200" cy="457200"/>
          </a:xfrm>
          <a:prstGeom prst="rect">
            <a:avLst/>
          </a:prstGeom>
        </p:spPr>
      </p:pic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2438A521-E617-465A-8D16-3F6A09D218A2}"/>
              </a:ext>
            </a:extLst>
          </p:cNvPr>
          <p:cNvSpPr>
            <a:spLocks noGrp="1"/>
          </p:cNvSpPr>
          <p:nvPr/>
        </p:nvSpPr>
        <p:spPr>
          <a:xfrm>
            <a:off x="1143000" y="6134100"/>
            <a:ext cx="1619250" cy="5143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3000" b="1">
                <a:solidFill>
                  <a:srgbClr val="052849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052849"/>
                </a:solidFill>
                <a:latin typeface="Arial"/>
                <a:ea typeface="Arial"/>
                <a:cs typeface="Arial"/>
              </a:rPr>
              <a:t>окели</a:t>
            </a:r>
          </a:p>
        </p:txBody>
      </p:sp>
      <p:pic>
        <p:nvPicPr>
          <p:cNvPr id="22" name="Рисунок 21"/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4762500" y="6115159"/>
            <a:ext cx="1390650" cy="590333"/>
          </a:xfrm>
          <a:prstGeom prst="rect">
            <a:avLst/>
          </a:prstGeom>
        </p:spPr>
      </p:pic>
      <p:pic>
        <p:nvPicPr>
          <p:cNvPr id="23" name="Рисунок 22"/>
          <p:cNvPicPr>
            <a:picLocks noChangeAspect="1"/>
          </p:cNvPicPr>
          <p:nvPr/>
        </p:nvPicPr>
        <p:blipFill>
          <a:blip r:embed="rId5"/>
          <a:stretch/>
        </p:blipFill>
        <p:spPr>
          <a:xfrm>
            <a:off x="9039225" y="6067425"/>
            <a:ext cx="628650" cy="628650"/>
          </a:xfrm>
          <a:prstGeom prst="rect">
            <a:avLst/>
          </a:prstGeom>
        </p:spPr>
      </p:pic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F37E4E6B-ADE4-4FC6-ACE8-445E9DFFD39B}"/>
              </a:ext>
            </a:extLst>
          </p:cNvPr>
          <p:cNvSpPr>
            <a:spLocks noGrp="1"/>
          </p:cNvSpPr>
          <p:nvPr/>
        </p:nvSpPr>
        <p:spPr>
          <a:xfrm>
            <a:off x="9829800" y="6305550"/>
            <a:ext cx="1571625" cy="2571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575" b="0">
                <a:solidFill>
                  <a:srgbClr val="052849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052849"/>
                </a:solidFill>
                <a:latin typeface="Arial"/>
                <a:ea typeface="Arial"/>
                <a:cs typeface="Arial"/>
              </a:rPr>
              <a:t>Волгоград</a:t>
            </a:r>
          </a:p>
        </p:txBody>
      </p:sp>
      <p:sp>
        <p:nvSpPr>
          <p:cNvPr id="8" name="Прямоугольник 7">
            <a:extLst>
              <a:ext uri="{FF2B5EF4-FFF2-40B4-BE49-F238E27FC236}">
                <a16:creationId xmlns:a16="http://schemas.microsoft.com/office/drawing/2014/main" id="{4364C2C6-EB1D-489B-9B3D-645FBB2BD8A5}"/>
              </a:ext>
            </a:extLst>
          </p:cNvPr>
          <p:cNvSpPr>
            <a:spLocks noGrp="1"/>
          </p:cNvSpPr>
          <p:nvPr/>
        </p:nvSpPr>
        <p:spPr>
          <a:xfrm>
            <a:off x="11525250" y="6343650"/>
            <a:ext cx="419100" cy="2095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050" b="0">
                <a:solidFill>
                  <a:srgbClr val="566572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566572"/>
                </a:solidFill>
                <a:latin typeface="Arial"/>
                <a:ea typeface="Arial"/>
                <a:cs typeface="Arial"/>
              </a:rPr>
              <a:t>07</a:t>
            </a:r>
          </a:p>
        </p:txBody>
      </p:sp>
      <p:sp>
        <p:nvSpPr>
          <p:cNvPr id="9" name="Прямоугольник 8">
            <a:extLst>
              <a:ext uri="{FF2B5EF4-FFF2-40B4-BE49-F238E27FC236}">
                <a16:creationId xmlns:a16="http://schemas.microsoft.com/office/drawing/2014/main" id="{98D7BC41-8165-4C64-9376-5DF84BFD79C2}"/>
              </a:ext>
            </a:extLst>
          </p:cNvPr>
          <p:cNvSpPr>
            <a:spLocks noGrp="1"/>
          </p:cNvSpPr>
          <p:nvPr/>
        </p:nvSpPr>
        <p:spPr>
          <a:xfrm>
            <a:off x="609600" y="1828800"/>
            <a:ext cx="666750" cy="4381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325" b="1">
                <a:solidFill>
                  <a:srgbClr val="018A98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018A98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10" name="Прямоугольник 9">
            <a:extLst>
              <a:ext uri="{FF2B5EF4-FFF2-40B4-BE49-F238E27FC236}">
                <a16:creationId xmlns:a16="http://schemas.microsoft.com/office/drawing/2014/main" id="{A5979586-0666-4FFA-9F77-64B1D30D70C7}"/>
              </a:ext>
            </a:extLst>
          </p:cNvPr>
          <p:cNvSpPr>
            <a:spLocks noGrp="1"/>
          </p:cNvSpPr>
          <p:nvPr/>
        </p:nvSpPr>
        <p:spPr>
          <a:xfrm>
            <a:off x="1447800" y="1847850"/>
            <a:ext cx="9858375" cy="609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250" b="0">
                <a:solidFill>
                  <a:srgbClr val="052849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052849"/>
                </a:solidFill>
                <a:latin typeface="Arial"/>
                <a:ea typeface="Arial"/>
                <a:cs typeface="Arial"/>
              </a:rPr>
              <a:t>Метрика: доля пройденных проверок tests.json (12) и точность сегментации на 10 примерах</a:t>
            </a:r>
          </a:p>
        </p:txBody>
      </p:sp>
      <p:sp>
        <p:nvSpPr>
          <p:cNvPr id="11" name="Прямоугольник 10">
            <a:extLst>
              <a:ext uri="{FF2B5EF4-FFF2-40B4-BE49-F238E27FC236}">
                <a16:creationId xmlns:a16="http://schemas.microsoft.com/office/drawing/2014/main" id="{259C3B07-5C4A-4B15-B837-886EFC397777}"/>
              </a:ext>
            </a:extLst>
          </p:cNvPr>
          <p:cNvSpPr>
            <a:spLocks noGrp="1"/>
          </p:cNvSpPr>
          <p:nvPr/>
        </p:nvSpPr>
        <p:spPr>
          <a:xfrm>
            <a:off x="609600" y="2590800"/>
            <a:ext cx="666750" cy="4381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325" b="1">
                <a:solidFill>
                  <a:srgbClr val="018A98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018A98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12" name="Прямоугольник 11">
            <a:extLst>
              <a:ext uri="{FF2B5EF4-FFF2-40B4-BE49-F238E27FC236}">
                <a16:creationId xmlns:a16="http://schemas.microsoft.com/office/drawing/2014/main" id="{A3FA6E90-2567-4D42-937E-EEA5D461194C}"/>
              </a:ext>
            </a:extLst>
          </p:cNvPr>
          <p:cNvSpPr>
            <a:spLocks noGrp="1"/>
          </p:cNvSpPr>
          <p:nvPr/>
        </p:nvSpPr>
        <p:spPr>
          <a:xfrm>
            <a:off x="1447800" y="2609850"/>
            <a:ext cx="9858375" cy="609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250" b="0">
                <a:solidFill>
                  <a:srgbClr val="052849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052849"/>
                </a:solidFill>
                <a:latin typeface="Arial"/>
                <a:ea typeface="Arial"/>
                <a:cs typeface="Arial"/>
              </a:rPr>
              <a:t>Базовый способ: ручной разбор переписки — контекст теряется, карточки дублируются</a:t>
            </a:r>
          </a:p>
        </p:txBody>
      </p:sp>
      <p:sp>
        <p:nvSpPr>
          <p:cNvPr id="13" name="Прямоугольник 12">
            <a:extLst>
              <a:ext uri="{FF2B5EF4-FFF2-40B4-BE49-F238E27FC236}">
                <a16:creationId xmlns:a16="http://schemas.microsoft.com/office/drawing/2014/main" id="{B6CF598F-97B8-45B8-BA73-117A1E428F15}"/>
              </a:ext>
            </a:extLst>
          </p:cNvPr>
          <p:cNvSpPr>
            <a:spLocks noGrp="1"/>
          </p:cNvSpPr>
          <p:nvPr/>
        </p:nvSpPr>
        <p:spPr>
          <a:xfrm>
            <a:off x="609600" y="3352800"/>
            <a:ext cx="666750" cy="4381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325" b="1">
                <a:solidFill>
                  <a:srgbClr val="018A98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018A98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14" name="Прямоугольник 13">
            <a:extLst>
              <a:ext uri="{FF2B5EF4-FFF2-40B4-BE49-F238E27FC236}">
                <a16:creationId xmlns:a16="http://schemas.microsoft.com/office/drawing/2014/main" id="{2D40E7AA-576B-4003-A0F5-869023334030}"/>
              </a:ext>
            </a:extLst>
          </p:cNvPr>
          <p:cNvSpPr>
            <a:spLocks noGrp="1"/>
          </p:cNvSpPr>
          <p:nvPr/>
        </p:nvSpPr>
        <p:spPr>
          <a:xfrm>
            <a:off x="1447800" y="3371850"/>
            <a:ext cx="9858375" cy="609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250" b="0">
                <a:solidFill>
                  <a:srgbClr val="052849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052849"/>
                </a:solidFill>
                <a:latin typeface="Arial"/>
                <a:ea typeface="Arial"/>
                <a:cs typeface="Arial"/>
              </a:rPr>
              <a:t>Наш прототип: контур собран: 172/172 проверок, 12/12 тестов; LLM-линия qwen2.5:7b — 10/10 кейсов и 21/21 перефраз</a:t>
            </a:r>
          </a:p>
        </p:txBody>
      </p:sp>
      <p:sp>
        <p:nvSpPr>
          <p:cNvPr id="15" name="Прямоугольник 14">
            <a:extLst>
              <a:ext uri="{FF2B5EF4-FFF2-40B4-BE49-F238E27FC236}">
                <a16:creationId xmlns:a16="http://schemas.microsoft.com/office/drawing/2014/main" id="{7E15090C-0C55-41D1-8BED-66939D2CA403}"/>
              </a:ext>
            </a:extLst>
          </p:cNvPr>
          <p:cNvSpPr>
            <a:spLocks noGrp="1"/>
          </p:cNvSpPr>
          <p:nvPr/>
        </p:nvSpPr>
        <p:spPr>
          <a:xfrm>
            <a:off x="609600" y="4114800"/>
            <a:ext cx="666750" cy="4381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325" b="1">
                <a:solidFill>
                  <a:srgbClr val="018A98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018A98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16" name="Прямоугольник 15">
            <a:extLst>
              <a:ext uri="{FF2B5EF4-FFF2-40B4-BE49-F238E27FC236}">
                <a16:creationId xmlns:a16="http://schemas.microsoft.com/office/drawing/2014/main" id="{22A8D848-C69B-4842-A510-3CA86684D1A6}"/>
              </a:ext>
            </a:extLst>
          </p:cNvPr>
          <p:cNvSpPr>
            <a:spLocks noGrp="1"/>
          </p:cNvSpPr>
          <p:nvPr/>
        </p:nvSpPr>
        <p:spPr>
          <a:xfrm>
            <a:off x="1447800" y="4133850"/>
            <a:ext cx="9858375" cy="609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250" b="0">
                <a:solidFill>
                  <a:srgbClr val="052849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052849"/>
                </a:solidFill>
                <a:latin typeface="Arial"/>
                <a:ea typeface="Arial"/>
                <a:cs typeface="Arial"/>
              </a:rPr>
              <a:t>Ошибки: на спорных целях LLM чаще переспрашивает; краевые F006–F009 проходят с предупреждениями</a:t>
            </a:r>
          </a:p>
        </p:txBody>
      </p:sp>
      <p:sp>
        <p:nvSpPr>
          <p:cNvPr id="17" name="Прямоугольник 16">
            <a:extLst>
              <a:ext uri="{FF2B5EF4-FFF2-40B4-BE49-F238E27FC236}">
                <a16:creationId xmlns:a16="http://schemas.microsoft.com/office/drawing/2014/main" id="{498B1674-AE63-4E45-B0B2-57BF36B2BA58}"/>
              </a:ext>
            </a:extLst>
          </p:cNvPr>
          <p:cNvSpPr>
            <a:spLocks noGrp="1"/>
          </p:cNvSpPr>
          <p:nvPr/>
        </p:nvSpPr>
        <p:spPr>
          <a:xfrm>
            <a:off x="609600" y="5248275"/>
            <a:ext cx="10763250" cy="5905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350" b="0">
                <a:solidFill>
                  <a:srgbClr val="566572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66572"/>
                </a:solidFill>
                <a:latin typeface="Arial"/>
                <a:ea typeface="Arial"/>
                <a:cs typeface="Arial"/>
              </a:rPr>
              <a:t>Таблица проверок — в репозитории: bot_fullstack/results/FB01_Проверки.md (прогон 24.09, 22:31) и на слайде 11.</a:t>
            </a:r>
          </a:p>
        </p:txBody>
      </p:sp>
    </p:spTree>
    <p:extLst>
      <p:ext uri="{BB962C8B-B14F-4D97-AF65-F5344CB8AC3E}">
        <p14:creationId xmlns:p14="http://schemas.microsoft.com/office/powerpoint/2010/main" val="187394438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8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Прямоугольник 17">
            <a:extLst>
              <a:ext uri="{FF2B5EF4-FFF2-40B4-BE49-F238E27FC236}">
                <a16:creationId xmlns:a16="http://schemas.microsoft.com/office/drawing/2014/main" id="{B72D6680-BA8E-46CC-9282-6833430D56C7}"/>
              </a:ext>
            </a:extLst>
          </p:cNvPr>
          <p:cNvSpPr>
            <a:spLocks noGrp="1"/>
          </p:cNvSpPr>
          <p:nvPr/>
        </p:nvSpPr>
        <p:spPr>
          <a:xfrm>
            <a:off x="609600" y="438150"/>
            <a:ext cx="10858500" cy="119062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3600" b="1">
                <a:solidFill>
                  <a:srgbClr val="052849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052849"/>
                </a:solidFill>
                <a:latin typeface="Arial"/>
                <a:ea typeface="Arial"/>
                <a:cs typeface="Arial"/>
              </a:rPr>
              <a:t>Эффект для бизнеса</a:t>
            </a:r>
          </a:p>
        </p:txBody>
      </p:sp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345522D7-32B0-404B-9AF7-948864D91D66}"/>
              </a:ext>
            </a:extLst>
          </p:cNvPr>
          <p:cNvSpPr>
            <a:spLocks noGrp="1"/>
          </p:cNvSpPr>
          <p:nvPr/>
        </p:nvSpPr>
        <p:spPr>
          <a:xfrm>
            <a:off x="0" y="5953125"/>
            <a:ext cx="12192000" cy="904875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</p:sp>
      <p:pic>
        <p:nvPicPr>
          <p:cNvPr id="20" name="Рисунок 19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609600" y="6143625"/>
            <a:ext cx="457200" cy="457200"/>
          </a:xfrm>
          <a:prstGeom prst="rect">
            <a:avLst/>
          </a:prstGeom>
        </p:spPr>
      </p:pic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F5A262F3-3E0C-4C70-9343-B30C558CE9F1}"/>
              </a:ext>
            </a:extLst>
          </p:cNvPr>
          <p:cNvSpPr>
            <a:spLocks noGrp="1"/>
          </p:cNvSpPr>
          <p:nvPr/>
        </p:nvSpPr>
        <p:spPr>
          <a:xfrm>
            <a:off x="1143000" y="6134100"/>
            <a:ext cx="1619250" cy="5143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3000" b="1">
                <a:solidFill>
                  <a:srgbClr val="052849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052849"/>
                </a:solidFill>
                <a:latin typeface="Arial"/>
                <a:ea typeface="Arial"/>
                <a:cs typeface="Arial"/>
              </a:rPr>
              <a:t>окели</a:t>
            </a:r>
          </a:p>
        </p:txBody>
      </p:sp>
      <p:pic>
        <p:nvPicPr>
          <p:cNvPr id="22" name="Рисунок 21"/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4762500" y="6115159"/>
            <a:ext cx="1390650" cy="590333"/>
          </a:xfrm>
          <a:prstGeom prst="rect">
            <a:avLst/>
          </a:prstGeom>
        </p:spPr>
      </p:pic>
      <p:pic>
        <p:nvPicPr>
          <p:cNvPr id="23" name="Рисунок 22"/>
          <p:cNvPicPr>
            <a:picLocks noChangeAspect="1"/>
          </p:cNvPicPr>
          <p:nvPr/>
        </p:nvPicPr>
        <p:blipFill>
          <a:blip r:embed="rId5"/>
          <a:stretch/>
        </p:blipFill>
        <p:spPr>
          <a:xfrm>
            <a:off x="9039225" y="6067425"/>
            <a:ext cx="628650" cy="628650"/>
          </a:xfrm>
          <a:prstGeom prst="rect">
            <a:avLst/>
          </a:prstGeom>
        </p:spPr>
      </p:pic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A25717A0-196A-40BD-BC2D-56CB062CD939}"/>
              </a:ext>
            </a:extLst>
          </p:cNvPr>
          <p:cNvSpPr>
            <a:spLocks noGrp="1"/>
          </p:cNvSpPr>
          <p:nvPr/>
        </p:nvSpPr>
        <p:spPr>
          <a:xfrm>
            <a:off x="9829800" y="6305550"/>
            <a:ext cx="1571625" cy="2571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575" b="0">
                <a:solidFill>
                  <a:srgbClr val="052849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052849"/>
                </a:solidFill>
                <a:latin typeface="Arial"/>
                <a:ea typeface="Arial"/>
                <a:cs typeface="Arial"/>
              </a:rPr>
              <a:t>Волгоград</a:t>
            </a:r>
          </a:p>
        </p:txBody>
      </p:sp>
      <p:sp>
        <p:nvSpPr>
          <p:cNvPr id="8" name="Прямоугольник 7">
            <a:extLst>
              <a:ext uri="{FF2B5EF4-FFF2-40B4-BE49-F238E27FC236}">
                <a16:creationId xmlns:a16="http://schemas.microsoft.com/office/drawing/2014/main" id="{9E8E847A-E7CB-4F2A-88F6-ADA61977E99A}"/>
              </a:ext>
            </a:extLst>
          </p:cNvPr>
          <p:cNvSpPr>
            <a:spLocks noGrp="1"/>
          </p:cNvSpPr>
          <p:nvPr/>
        </p:nvSpPr>
        <p:spPr>
          <a:xfrm>
            <a:off x="11525250" y="6343650"/>
            <a:ext cx="419100" cy="2095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050" b="0">
                <a:solidFill>
                  <a:srgbClr val="566572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566572"/>
                </a:solidFill>
                <a:latin typeface="Arial"/>
                <a:ea typeface="Arial"/>
                <a:cs typeface="Arial"/>
              </a:rPr>
              <a:t>08</a:t>
            </a:r>
          </a:p>
        </p:txBody>
      </p:sp>
      <p:sp>
        <p:nvSpPr>
          <p:cNvPr id="9" name="Прямоугольник 8">
            <a:extLst>
              <a:ext uri="{FF2B5EF4-FFF2-40B4-BE49-F238E27FC236}">
                <a16:creationId xmlns:a16="http://schemas.microsoft.com/office/drawing/2014/main" id="{A3FE1675-3BBF-445F-BC21-284EFEAEBA61}"/>
              </a:ext>
            </a:extLst>
          </p:cNvPr>
          <p:cNvSpPr>
            <a:spLocks noGrp="1"/>
          </p:cNvSpPr>
          <p:nvPr/>
        </p:nvSpPr>
        <p:spPr>
          <a:xfrm>
            <a:off x="609600" y="1828800"/>
            <a:ext cx="666750" cy="4381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325" b="1">
                <a:solidFill>
                  <a:srgbClr val="018A98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018A98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10" name="Прямоугольник 9">
            <a:extLst>
              <a:ext uri="{FF2B5EF4-FFF2-40B4-BE49-F238E27FC236}">
                <a16:creationId xmlns:a16="http://schemas.microsoft.com/office/drawing/2014/main" id="{594DD044-53A0-4CB9-820E-6293B91B4DF7}"/>
              </a:ext>
            </a:extLst>
          </p:cNvPr>
          <p:cNvSpPr>
            <a:spLocks noGrp="1"/>
          </p:cNvSpPr>
          <p:nvPr/>
        </p:nvSpPr>
        <p:spPr>
          <a:xfrm>
            <a:off x="1447800" y="1847850"/>
            <a:ext cx="9858375" cy="609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250" b="0">
                <a:solidFill>
                  <a:srgbClr val="052849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052849"/>
                </a:solidFill>
                <a:latin typeface="Arial"/>
                <a:ea typeface="Arial"/>
                <a:cs typeface="Arial"/>
              </a:rPr>
              <a:t>Изменение: первичный разбор новичка: вместо ручного чтения переписки — готовая карточка</a:t>
            </a:r>
          </a:p>
        </p:txBody>
      </p:sp>
      <p:sp>
        <p:nvSpPr>
          <p:cNvPr id="11" name="Прямоугольник 10">
            <a:extLst>
              <a:ext uri="{FF2B5EF4-FFF2-40B4-BE49-F238E27FC236}">
                <a16:creationId xmlns:a16="http://schemas.microsoft.com/office/drawing/2014/main" id="{A5F0D491-B0B4-440B-B721-00194183B340}"/>
              </a:ext>
            </a:extLst>
          </p:cNvPr>
          <p:cNvSpPr>
            <a:spLocks noGrp="1"/>
          </p:cNvSpPr>
          <p:nvPr/>
        </p:nvSpPr>
        <p:spPr>
          <a:xfrm>
            <a:off x="609600" y="2590800"/>
            <a:ext cx="666750" cy="4381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325" b="1">
                <a:solidFill>
                  <a:srgbClr val="018A98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018A98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12" name="Прямоугольник 11">
            <a:extLst>
              <a:ext uri="{FF2B5EF4-FFF2-40B4-BE49-F238E27FC236}">
                <a16:creationId xmlns:a16="http://schemas.microsoft.com/office/drawing/2014/main" id="{41E21C3C-2952-423D-8255-DCF6B07AA632}"/>
              </a:ext>
            </a:extLst>
          </p:cNvPr>
          <p:cNvSpPr>
            <a:spLocks noGrp="1"/>
          </p:cNvSpPr>
          <p:nvPr/>
        </p:nvSpPr>
        <p:spPr>
          <a:xfrm>
            <a:off x="1447800" y="2609850"/>
            <a:ext cx="9858375" cy="609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250" b="0">
                <a:solidFill>
                  <a:srgbClr val="052849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052849"/>
                </a:solidFill>
                <a:latin typeface="Arial"/>
                <a:ea typeface="Arial"/>
                <a:cs typeface="Arial"/>
              </a:rPr>
              <a:t>Расчёт: 40 мин → 5 мин на карточку; ~300 контактов в месяц — гипотезы, проверим на пилоте</a:t>
            </a:r>
          </a:p>
        </p:txBody>
      </p:sp>
      <p:sp>
        <p:nvSpPr>
          <p:cNvPr id="13" name="Прямоугольник 12">
            <a:extLst>
              <a:ext uri="{FF2B5EF4-FFF2-40B4-BE49-F238E27FC236}">
                <a16:creationId xmlns:a16="http://schemas.microsoft.com/office/drawing/2014/main" id="{4D96A4BF-4982-475C-B2E2-BD58BADC73D4}"/>
              </a:ext>
            </a:extLst>
          </p:cNvPr>
          <p:cNvSpPr>
            <a:spLocks noGrp="1"/>
          </p:cNvSpPr>
          <p:nvPr/>
        </p:nvSpPr>
        <p:spPr>
          <a:xfrm>
            <a:off x="609600" y="3352800"/>
            <a:ext cx="666750" cy="4381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325" b="1">
                <a:solidFill>
                  <a:srgbClr val="018A98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018A98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14" name="Прямоугольник 13">
            <a:extLst>
              <a:ext uri="{FF2B5EF4-FFF2-40B4-BE49-F238E27FC236}">
                <a16:creationId xmlns:a16="http://schemas.microsoft.com/office/drawing/2014/main" id="{BEDFDCD8-C0F1-43A7-87D0-E2A9ED5A65AF}"/>
              </a:ext>
            </a:extLst>
          </p:cNvPr>
          <p:cNvSpPr>
            <a:spLocks noGrp="1"/>
          </p:cNvSpPr>
          <p:nvPr/>
        </p:nvSpPr>
        <p:spPr>
          <a:xfrm>
            <a:off x="1447800" y="3371850"/>
            <a:ext cx="9858375" cy="609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250" b="0">
                <a:solidFill>
                  <a:srgbClr val="052849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052849"/>
                </a:solidFill>
                <a:latin typeface="Arial"/>
                <a:ea typeface="Arial"/>
                <a:cs typeface="Arial"/>
              </a:rPr>
              <a:t>Затраты: разработка 01.10.2026–31.03.2027 — 4 996 802,80 ₽ с НДС; поддержка — 1 SA и проверка наставниками</a:t>
            </a:r>
          </a:p>
        </p:txBody>
      </p:sp>
      <p:sp>
        <p:nvSpPr>
          <p:cNvPr id="15" name="Прямоугольник 14">
            <a:extLst>
              <a:ext uri="{FF2B5EF4-FFF2-40B4-BE49-F238E27FC236}">
                <a16:creationId xmlns:a16="http://schemas.microsoft.com/office/drawing/2014/main" id="{13A1BA6B-FF9A-464B-91EA-022FCCEB7297}"/>
              </a:ext>
            </a:extLst>
          </p:cNvPr>
          <p:cNvSpPr>
            <a:spLocks noGrp="1"/>
          </p:cNvSpPr>
          <p:nvPr/>
        </p:nvSpPr>
        <p:spPr>
          <a:xfrm>
            <a:off x="609600" y="4114800"/>
            <a:ext cx="666750" cy="4381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325" b="1">
                <a:solidFill>
                  <a:srgbClr val="018A98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018A98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16" name="Прямоугольник 15">
            <a:extLst>
              <a:ext uri="{FF2B5EF4-FFF2-40B4-BE49-F238E27FC236}">
                <a16:creationId xmlns:a16="http://schemas.microsoft.com/office/drawing/2014/main" id="{C9409F71-5C7D-4139-BE27-E7534631F446}"/>
              </a:ext>
            </a:extLst>
          </p:cNvPr>
          <p:cNvSpPr>
            <a:spLocks noGrp="1"/>
          </p:cNvSpPr>
          <p:nvPr/>
        </p:nvSpPr>
        <p:spPr>
          <a:xfrm>
            <a:off x="1447800" y="4133850"/>
            <a:ext cx="9858375" cy="609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250" b="0">
                <a:solidFill>
                  <a:srgbClr val="052849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052849"/>
                </a:solidFill>
                <a:latin typeface="Arial"/>
                <a:ea typeface="Arial"/>
                <a:cs typeface="Arial"/>
              </a:rPr>
              <a:t>Статус: гипотеза: эффект вживую не замерялся, числа — оценка команды</a:t>
            </a:r>
          </a:p>
        </p:txBody>
      </p:sp>
      <p:sp>
        <p:nvSpPr>
          <p:cNvPr id="17" name="Прямоугольник 16">
            <a:extLst>
              <a:ext uri="{FF2B5EF4-FFF2-40B4-BE49-F238E27FC236}">
                <a16:creationId xmlns:a16="http://schemas.microsoft.com/office/drawing/2014/main" id="{08CC0997-0EC9-41FB-9D36-C0E35AA12BAC}"/>
              </a:ext>
            </a:extLst>
          </p:cNvPr>
          <p:cNvSpPr>
            <a:spLocks noGrp="1"/>
          </p:cNvSpPr>
          <p:nvPr/>
        </p:nvSpPr>
        <p:spPr>
          <a:xfrm>
            <a:off x="609600" y="5248275"/>
            <a:ext cx="10763250" cy="5905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350" b="0">
                <a:solidFill>
                  <a:srgbClr val="566572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66572"/>
                </a:solidFill>
                <a:latin typeface="Arial"/>
                <a:ea typeface="Arial"/>
                <a:cs typeface="Arial"/>
              </a:rPr>
              <a:t>Допущения и критерии приёмки — в предложении по пилоту: docs/pilot-proposal.md в репозитории.</a:t>
            </a:r>
          </a:p>
        </p:txBody>
      </p:sp>
    </p:spTree>
    <p:extLst>
      <p:ext uri="{BB962C8B-B14F-4D97-AF65-F5344CB8AC3E}">
        <p14:creationId xmlns:p14="http://schemas.microsoft.com/office/powerpoint/2010/main" val="22999982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8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Прямоугольник 17">
            <a:extLst>
              <a:ext uri="{FF2B5EF4-FFF2-40B4-BE49-F238E27FC236}">
                <a16:creationId xmlns:a16="http://schemas.microsoft.com/office/drawing/2014/main" id="{E07995D8-6458-459D-AD1F-A61CB40C4B24}"/>
              </a:ext>
            </a:extLst>
          </p:cNvPr>
          <p:cNvSpPr>
            <a:spLocks noGrp="1"/>
          </p:cNvSpPr>
          <p:nvPr/>
        </p:nvSpPr>
        <p:spPr>
          <a:xfrm>
            <a:off x="609600" y="438150"/>
            <a:ext cx="10858500" cy="119062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3600" b="1">
                <a:solidFill>
                  <a:srgbClr val="052849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052849"/>
                </a:solidFill>
                <a:latin typeface="Arial"/>
                <a:ea typeface="Arial"/>
                <a:cs typeface="Arial"/>
              </a:rPr>
              <a:t>Команда и материалы</a:t>
            </a:r>
          </a:p>
        </p:txBody>
      </p:sp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C1D8A099-1293-4BAF-B6D9-527FA719303E}"/>
              </a:ext>
            </a:extLst>
          </p:cNvPr>
          <p:cNvSpPr>
            <a:spLocks noGrp="1"/>
          </p:cNvSpPr>
          <p:nvPr/>
        </p:nvSpPr>
        <p:spPr>
          <a:xfrm>
            <a:off x="0" y="5953125"/>
            <a:ext cx="12192000" cy="904875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</p:sp>
      <p:pic>
        <p:nvPicPr>
          <p:cNvPr id="20" name="Рисунок 19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609600" y="6143625"/>
            <a:ext cx="457200" cy="457200"/>
          </a:xfrm>
          <a:prstGeom prst="rect">
            <a:avLst/>
          </a:prstGeom>
        </p:spPr>
      </p:pic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60B9A644-BBF8-4C4F-964E-77DCFE215946}"/>
              </a:ext>
            </a:extLst>
          </p:cNvPr>
          <p:cNvSpPr>
            <a:spLocks noGrp="1"/>
          </p:cNvSpPr>
          <p:nvPr/>
        </p:nvSpPr>
        <p:spPr>
          <a:xfrm>
            <a:off x="1143000" y="6134100"/>
            <a:ext cx="1619250" cy="5143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3000" b="1">
                <a:solidFill>
                  <a:srgbClr val="052849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052849"/>
                </a:solidFill>
                <a:latin typeface="Arial"/>
                <a:ea typeface="Arial"/>
                <a:cs typeface="Arial"/>
              </a:rPr>
              <a:t>окели</a:t>
            </a:r>
          </a:p>
        </p:txBody>
      </p:sp>
      <p:pic>
        <p:nvPicPr>
          <p:cNvPr id="22" name="Рисунок 21"/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4762500" y="6115159"/>
            <a:ext cx="1390650" cy="590333"/>
          </a:xfrm>
          <a:prstGeom prst="rect">
            <a:avLst/>
          </a:prstGeom>
        </p:spPr>
      </p:pic>
      <p:pic>
        <p:nvPicPr>
          <p:cNvPr id="23" name="Рисунок 22"/>
          <p:cNvPicPr>
            <a:picLocks noChangeAspect="1"/>
          </p:cNvPicPr>
          <p:nvPr/>
        </p:nvPicPr>
        <p:blipFill>
          <a:blip r:embed="rId5"/>
          <a:stretch/>
        </p:blipFill>
        <p:spPr>
          <a:xfrm>
            <a:off x="9039225" y="6067425"/>
            <a:ext cx="628650" cy="628650"/>
          </a:xfrm>
          <a:prstGeom prst="rect">
            <a:avLst/>
          </a:prstGeom>
        </p:spPr>
      </p:pic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2148C3C2-FB22-4D64-BDF0-A1C7A0764C28}"/>
              </a:ext>
            </a:extLst>
          </p:cNvPr>
          <p:cNvSpPr>
            <a:spLocks noGrp="1"/>
          </p:cNvSpPr>
          <p:nvPr/>
        </p:nvSpPr>
        <p:spPr>
          <a:xfrm>
            <a:off x="9829800" y="6305550"/>
            <a:ext cx="1571625" cy="2571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575" b="0">
                <a:solidFill>
                  <a:srgbClr val="052849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052849"/>
                </a:solidFill>
                <a:latin typeface="Arial"/>
                <a:ea typeface="Arial"/>
                <a:cs typeface="Arial"/>
              </a:rPr>
              <a:t>Волгоград</a:t>
            </a:r>
          </a:p>
        </p:txBody>
      </p:sp>
      <p:sp>
        <p:nvSpPr>
          <p:cNvPr id="8" name="Прямоугольник 7">
            <a:extLst>
              <a:ext uri="{FF2B5EF4-FFF2-40B4-BE49-F238E27FC236}">
                <a16:creationId xmlns:a16="http://schemas.microsoft.com/office/drawing/2014/main" id="{9D98EF44-9DFE-48A2-8FC7-9A8739897DBD}"/>
              </a:ext>
            </a:extLst>
          </p:cNvPr>
          <p:cNvSpPr>
            <a:spLocks noGrp="1"/>
          </p:cNvSpPr>
          <p:nvPr/>
        </p:nvSpPr>
        <p:spPr>
          <a:xfrm>
            <a:off x="11525250" y="6343650"/>
            <a:ext cx="419100" cy="2095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050" b="0">
                <a:solidFill>
                  <a:srgbClr val="566572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566572"/>
                </a:solidFill>
                <a:latin typeface="Arial"/>
                <a:ea typeface="Arial"/>
                <a:cs typeface="Arial"/>
              </a:rPr>
              <a:t>09</a:t>
            </a:r>
          </a:p>
        </p:txBody>
      </p:sp>
      <p:sp>
        <p:nvSpPr>
          <p:cNvPr id="9" name="Прямоугольник 8">
            <a:extLst>
              <a:ext uri="{FF2B5EF4-FFF2-40B4-BE49-F238E27FC236}">
                <a16:creationId xmlns:a16="http://schemas.microsoft.com/office/drawing/2014/main" id="{FD031292-020E-4803-BAD1-DE5753D030B2}"/>
              </a:ext>
            </a:extLst>
          </p:cNvPr>
          <p:cNvSpPr>
            <a:spLocks noGrp="1"/>
          </p:cNvSpPr>
          <p:nvPr/>
        </p:nvSpPr>
        <p:spPr>
          <a:xfrm>
            <a:off x="609600" y="1828800"/>
            <a:ext cx="666750" cy="4381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325" b="1">
                <a:solidFill>
                  <a:srgbClr val="018A98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018A98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10" name="Прямоугольник 9">
            <a:extLst>
              <a:ext uri="{FF2B5EF4-FFF2-40B4-BE49-F238E27FC236}">
                <a16:creationId xmlns:a16="http://schemas.microsoft.com/office/drawing/2014/main" id="{3BFF7875-8182-47F5-87A9-880F73F28413}"/>
              </a:ext>
            </a:extLst>
          </p:cNvPr>
          <p:cNvSpPr>
            <a:spLocks noGrp="1"/>
          </p:cNvSpPr>
          <p:nvPr/>
        </p:nvSpPr>
        <p:spPr>
          <a:xfrm>
            <a:off x="1447800" y="1847850"/>
            <a:ext cx="9858375" cy="609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250" b="0">
                <a:solidFill>
                  <a:srgbClr val="052849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052849"/>
                </a:solidFill>
                <a:latin typeface="Arial"/>
                <a:ea typeface="Arial"/>
                <a:cs typeface="Arial"/>
              </a:rPr>
              <a:t>Роли: Карасев Д. — продукт/SA; Долгова К. — ML; Отпущенников А. — DevOps; Веденеев В. — fullstack-контур</a:t>
            </a:r>
          </a:p>
        </p:txBody>
      </p:sp>
      <p:sp>
        <p:nvSpPr>
          <p:cNvPr id="11" name="Прямоугольник 10">
            <a:extLst>
              <a:ext uri="{FF2B5EF4-FFF2-40B4-BE49-F238E27FC236}">
                <a16:creationId xmlns:a16="http://schemas.microsoft.com/office/drawing/2014/main" id="{D335921A-1831-46BB-ACBD-98281BCBC9F8}"/>
              </a:ext>
            </a:extLst>
          </p:cNvPr>
          <p:cNvSpPr>
            <a:spLocks noGrp="1"/>
          </p:cNvSpPr>
          <p:nvPr/>
        </p:nvSpPr>
        <p:spPr>
          <a:xfrm>
            <a:off x="609600" y="2590800"/>
            <a:ext cx="666750" cy="4381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325" b="1">
                <a:solidFill>
                  <a:srgbClr val="018A98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018A98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12" name="Прямоугольник 11">
            <a:extLst>
              <a:ext uri="{FF2B5EF4-FFF2-40B4-BE49-F238E27FC236}">
                <a16:creationId xmlns:a16="http://schemas.microsoft.com/office/drawing/2014/main" id="{F411E88C-BDD7-4583-84AE-60933DBC1EAC}"/>
              </a:ext>
            </a:extLst>
          </p:cNvPr>
          <p:cNvSpPr>
            <a:spLocks noGrp="1"/>
          </p:cNvSpPr>
          <p:nvPr/>
        </p:nvSpPr>
        <p:spPr>
          <a:xfrm>
            <a:off x="1447800" y="2609850"/>
            <a:ext cx="9858375" cy="609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250" b="0">
                <a:solidFill>
                  <a:srgbClr val="052849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052849"/>
                </a:solidFill>
                <a:latin typeface="Arial"/>
                <a:ea typeface="Arial"/>
                <a:cs typeface="Arial"/>
              </a:rPr>
              <a:t>GitVerse: сдача до 25.09, 09:00; рабочий репозиторий — github.com/KaDyK736/FinikTeam-FB01</a:t>
            </a:r>
          </a:p>
        </p:txBody>
      </p:sp>
      <p:sp>
        <p:nvSpPr>
          <p:cNvPr id="13" name="Прямоугольник 12">
            <a:extLst>
              <a:ext uri="{FF2B5EF4-FFF2-40B4-BE49-F238E27FC236}">
                <a16:creationId xmlns:a16="http://schemas.microsoft.com/office/drawing/2014/main" id="{EF70F542-6C02-4376-9F3B-BB300636F19C}"/>
              </a:ext>
            </a:extLst>
          </p:cNvPr>
          <p:cNvSpPr>
            <a:spLocks noGrp="1"/>
          </p:cNvSpPr>
          <p:nvPr/>
        </p:nvSpPr>
        <p:spPr>
          <a:xfrm>
            <a:off x="609600" y="3352800"/>
            <a:ext cx="666750" cy="4381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325" b="1">
                <a:solidFill>
                  <a:srgbClr val="018A98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018A98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14" name="Прямоугольник 13">
            <a:extLst>
              <a:ext uri="{FF2B5EF4-FFF2-40B4-BE49-F238E27FC236}">
                <a16:creationId xmlns:a16="http://schemas.microsoft.com/office/drawing/2014/main" id="{296FA34A-37E1-4F27-905B-2E17FA190851}"/>
              </a:ext>
            </a:extLst>
          </p:cNvPr>
          <p:cNvSpPr>
            <a:spLocks noGrp="1"/>
          </p:cNvSpPr>
          <p:nvPr/>
        </p:nvSpPr>
        <p:spPr>
          <a:xfrm>
            <a:off x="1447800" y="3371850"/>
            <a:ext cx="9858375" cy="609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250" b="0">
                <a:solidFill>
                  <a:srgbClr val="052849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052849"/>
                </a:solidFill>
                <a:latin typeface="Arial"/>
                <a:ea typeface="Arial"/>
                <a:cs typeface="Arial"/>
              </a:rPr>
              <a:t>Запуск: .env из .env.example → python app.py (локально Ollama с qwen2.5:7b-instruct)</a:t>
            </a:r>
          </a:p>
        </p:txBody>
      </p:sp>
      <p:sp>
        <p:nvSpPr>
          <p:cNvPr id="15" name="Прямоугольник 14">
            <a:extLst>
              <a:ext uri="{FF2B5EF4-FFF2-40B4-BE49-F238E27FC236}">
                <a16:creationId xmlns:a16="http://schemas.microsoft.com/office/drawing/2014/main" id="{AB6F9F9C-CB4C-454F-8B2A-9D3A5F996FFE}"/>
              </a:ext>
            </a:extLst>
          </p:cNvPr>
          <p:cNvSpPr>
            <a:spLocks noGrp="1"/>
          </p:cNvSpPr>
          <p:nvPr/>
        </p:nvSpPr>
        <p:spPr>
          <a:xfrm>
            <a:off x="609600" y="4114800"/>
            <a:ext cx="666750" cy="4381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325" b="1">
                <a:solidFill>
                  <a:srgbClr val="018A98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018A98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16" name="Прямоугольник 15">
            <a:extLst>
              <a:ext uri="{FF2B5EF4-FFF2-40B4-BE49-F238E27FC236}">
                <a16:creationId xmlns:a16="http://schemas.microsoft.com/office/drawing/2014/main" id="{CFB24CBB-2F3A-42A7-9D77-C215263B1848}"/>
              </a:ext>
            </a:extLst>
          </p:cNvPr>
          <p:cNvSpPr>
            <a:spLocks noGrp="1"/>
          </p:cNvSpPr>
          <p:nvPr/>
        </p:nvSpPr>
        <p:spPr>
          <a:xfrm>
            <a:off x="1447800" y="4133850"/>
            <a:ext cx="9858375" cy="609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250" b="0">
                <a:solidFill>
                  <a:srgbClr val="052849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052849"/>
                </a:solidFill>
                <a:latin typeface="Arial"/>
                <a:ea typeface="Arial"/>
                <a:cs typeface="Arial"/>
              </a:rPr>
              <a:t>Проверка: scripts/run_tests.py и run_paraphrases.py; собранный контур — bot_fullstack, 172 проверок</a:t>
            </a:r>
          </a:p>
        </p:txBody>
      </p:sp>
      <p:sp>
        <p:nvSpPr>
          <p:cNvPr id="17" name="Прямоугольник 16">
            <a:extLst>
              <a:ext uri="{FF2B5EF4-FFF2-40B4-BE49-F238E27FC236}">
                <a16:creationId xmlns:a16="http://schemas.microsoft.com/office/drawing/2014/main" id="{016FA87D-0660-4D1C-9AEA-4F75B4614ACE}"/>
              </a:ext>
            </a:extLst>
          </p:cNvPr>
          <p:cNvSpPr>
            <a:spLocks noGrp="1"/>
          </p:cNvSpPr>
          <p:nvPr/>
        </p:nvSpPr>
        <p:spPr>
          <a:xfrm>
            <a:off x="609600" y="5248275"/>
            <a:ext cx="10763250" cy="5905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350" b="0">
                <a:solidFill>
                  <a:srgbClr val="566572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66572"/>
                </a:solidFill>
                <a:latin typeface="Arial"/>
                <a:ea typeface="Arial"/>
                <a:cs typeface="Arial"/>
              </a:rPr>
              <a:t>Команда готова продолжать внедрение на пилоте; доступ к репозиторию открыт жюри.</a:t>
            </a:r>
          </a:p>
        </p:txBody>
      </p:sp>
    </p:spTree>
    <p:extLst>
      <p:ext uri="{BB962C8B-B14F-4D97-AF65-F5344CB8AC3E}">
        <p14:creationId xmlns:p14="http://schemas.microsoft.com/office/powerpoint/2010/main" val="42686309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5284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Прямоугольник 17">
            <a:extLst>
              <a:ext uri="{FF2B5EF4-FFF2-40B4-BE49-F238E27FC236}">
                <a16:creationId xmlns:a16="http://schemas.microsoft.com/office/drawing/2014/main" id="{192ECB55-29B1-444A-B441-0ADFC8C279BF}"/>
              </a:ext>
            </a:extLst>
          </p:cNvPr>
          <p:cNvSpPr>
            <a:spLocks noGrp="1"/>
          </p:cNvSpPr>
          <p:nvPr/>
        </p:nvSpPr>
        <p:spPr>
          <a:xfrm>
            <a:off x="609600" y="438150"/>
            <a:ext cx="10858500" cy="119062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3600" b="1">
                <a:solidFill>
                  <a:srgbClr val="19AAB8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19AAB8"/>
                </a:solidFill>
                <a:latin typeface="Arial"/>
                <a:ea typeface="Arial"/>
                <a:cs typeface="Arial"/>
              </a:rPr>
              <a:t>Предложение по пилоту</a:t>
            </a:r>
          </a:p>
        </p:txBody>
      </p:sp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CEFB3606-C2EB-4612-8146-1768DD1389CF}"/>
              </a:ext>
            </a:extLst>
          </p:cNvPr>
          <p:cNvSpPr>
            <a:spLocks noGrp="1"/>
          </p:cNvSpPr>
          <p:nvPr/>
        </p:nvSpPr>
        <p:spPr>
          <a:xfrm>
            <a:off x="0" y="5953125"/>
            <a:ext cx="12192000" cy="904875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</p:sp>
      <p:pic>
        <p:nvPicPr>
          <p:cNvPr id="20" name="Рисунок 19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609600" y="6143625"/>
            <a:ext cx="457200" cy="457200"/>
          </a:xfrm>
          <a:prstGeom prst="rect">
            <a:avLst/>
          </a:prstGeom>
        </p:spPr>
      </p:pic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F5E5AB75-F08B-4814-8423-FA43A647EA56}"/>
              </a:ext>
            </a:extLst>
          </p:cNvPr>
          <p:cNvSpPr>
            <a:spLocks noGrp="1"/>
          </p:cNvSpPr>
          <p:nvPr/>
        </p:nvSpPr>
        <p:spPr>
          <a:xfrm>
            <a:off x="1143000" y="6134100"/>
            <a:ext cx="1619250" cy="5143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3000" b="1">
                <a:solidFill>
                  <a:srgbClr val="052849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052849"/>
                </a:solidFill>
                <a:latin typeface="Arial"/>
                <a:ea typeface="Arial"/>
                <a:cs typeface="Arial"/>
              </a:rPr>
              <a:t>окели</a:t>
            </a:r>
          </a:p>
        </p:txBody>
      </p:sp>
      <p:pic>
        <p:nvPicPr>
          <p:cNvPr id="22" name="Рисунок 21"/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4762500" y="6115159"/>
            <a:ext cx="1390650" cy="590333"/>
          </a:xfrm>
          <a:prstGeom prst="rect">
            <a:avLst/>
          </a:prstGeom>
        </p:spPr>
      </p:pic>
      <p:pic>
        <p:nvPicPr>
          <p:cNvPr id="23" name="Рисунок 22"/>
          <p:cNvPicPr>
            <a:picLocks noChangeAspect="1"/>
          </p:cNvPicPr>
          <p:nvPr/>
        </p:nvPicPr>
        <p:blipFill>
          <a:blip r:embed="rId5"/>
          <a:stretch/>
        </p:blipFill>
        <p:spPr>
          <a:xfrm>
            <a:off x="9039225" y="6067425"/>
            <a:ext cx="628650" cy="628650"/>
          </a:xfrm>
          <a:prstGeom prst="rect">
            <a:avLst/>
          </a:prstGeom>
        </p:spPr>
      </p:pic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1CBB27BF-99A4-453E-851E-467B7686C5CF}"/>
              </a:ext>
            </a:extLst>
          </p:cNvPr>
          <p:cNvSpPr>
            <a:spLocks noGrp="1"/>
          </p:cNvSpPr>
          <p:nvPr/>
        </p:nvSpPr>
        <p:spPr>
          <a:xfrm>
            <a:off x="9829800" y="6305550"/>
            <a:ext cx="1571625" cy="2571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575" b="0">
                <a:solidFill>
                  <a:srgbClr val="052849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052849"/>
                </a:solidFill>
                <a:latin typeface="Arial"/>
                <a:ea typeface="Arial"/>
                <a:cs typeface="Arial"/>
              </a:rPr>
              <a:t>Волгоград</a:t>
            </a:r>
          </a:p>
        </p:txBody>
      </p:sp>
      <p:sp>
        <p:nvSpPr>
          <p:cNvPr id="8" name="Прямоугольник 7">
            <a:extLst>
              <a:ext uri="{FF2B5EF4-FFF2-40B4-BE49-F238E27FC236}">
                <a16:creationId xmlns:a16="http://schemas.microsoft.com/office/drawing/2014/main" id="{86CB9FD8-65D1-4A08-B381-6FC1FF4F5F20}"/>
              </a:ext>
            </a:extLst>
          </p:cNvPr>
          <p:cNvSpPr>
            <a:spLocks noGrp="1"/>
          </p:cNvSpPr>
          <p:nvPr/>
        </p:nvSpPr>
        <p:spPr>
          <a:xfrm>
            <a:off x="11525250" y="6343650"/>
            <a:ext cx="419100" cy="2095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050" b="0">
                <a:solidFill>
                  <a:srgbClr val="566572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566572"/>
                </a:solidFill>
                <a:latin typeface="Arial"/>
                <a:ea typeface="Arial"/>
                <a:cs typeface="Arial"/>
              </a:rPr>
              <a:t>10</a:t>
            </a:r>
          </a:p>
        </p:txBody>
      </p:sp>
      <p:sp>
        <p:nvSpPr>
          <p:cNvPr id="9" name="Прямоугольник 8">
            <a:extLst>
              <a:ext uri="{FF2B5EF4-FFF2-40B4-BE49-F238E27FC236}">
                <a16:creationId xmlns:a16="http://schemas.microsoft.com/office/drawing/2014/main" id="{A3FD01D5-FC46-4CAE-83B0-1BD9BC11DC6F}"/>
              </a:ext>
            </a:extLst>
          </p:cNvPr>
          <p:cNvSpPr>
            <a:spLocks noGrp="1"/>
          </p:cNvSpPr>
          <p:nvPr/>
        </p:nvSpPr>
        <p:spPr>
          <a:xfrm>
            <a:off x="609600" y="1828800"/>
            <a:ext cx="666750" cy="4381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325" b="1">
                <a:solidFill>
                  <a:srgbClr val="19AAB8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9AAB8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10" name="Прямоугольник 9">
            <a:extLst>
              <a:ext uri="{FF2B5EF4-FFF2-40B4-BE49-F238E27FC236}">
                <a16:creationId xmlns:a16="http://schemas.microsoft.com/office/drawing/2014/main" id="{DA88B8BC-8640-4DFE-811E-BD57BB0F14CB}"/>
              </a:ext>
            </a:extLst>
          </p:cNvPr>
          <p:cNvSpPr>
            <a:spLocks noGrp="1"/>
          </p:cNvSpPr>
          <p:nvPr/>
        </p:nvSpPr>
        <p:spPr>
          <a:xfrm>
            <a:off x="1447800" y="1847850"/>
            <a:ext cx="9858375" cy="609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25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Первый шаг: разработка 01.10–20.03 и промышленный прогон 21–31.03.2027 на учебных и реальных регистрациях</a:t>
            </a:r>
          </a:p>
        </p:txBody>
      </p:sp>
      <p:sp>
        <p:nvSpPr>
          <p:cNvPr id="11" name="Прямоугольник 10">
            <a:extLst>
              <a:ext uri="{FF2B5EF4-FFF2-40B4-BE49-F238E27FC236}">
                <a16:creationId xmlns:a16="http://schemas.microsoft.com/office/drawing/2014/main" id="{000BD7E1-0A3F-4DB8-B29E-DA3AF33993DB}"/>
              </a:ext>
            </a:extLst>
          </p:cNvPr>
          <p:cNvSpPr>
            <a:spLocks noGrp="1"/>
          </p:cNvSpPr>
          <p:nvPr/>
        </p:nvSpPr>
        <p:spPr>
          <a:xfrm>
            <a:off x="609600" y="2590800"/>
            <a:ext cx="666750" cy="4381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325" b="1">
                <a:solidFill>
                  <a:srgbClr val="19AAB8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9AAB8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12" name="Прямоугольник 11">
            <a:extLst>
              <a:ext uri="{FF2B5EF4-FFF2-40B4-BE49-F238E27FC236}">
                <a16:creationId xmlns:a16="http://schemas.microsoft.com/office/drawing/2014/main" id="{7F5E34EA-7270-4ADD-A41B-EAB62178C983}"/>
              </a:ext>
            </a:extLst>
          </p:cNvPr>
          <p:cNvSpPr>
            <a:spLocks noGrp="1"/>
          </p:cNvSpPr>
          <p:nvPr/>
        </p:nvSpPr>
        <p:spPr>
          <a:xfrm>
            <a:off x="1447800" y="2609850"/>
            <a:ext cx="9858375" cy="609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25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Владелец: ИП Самойленко А. С. — принимает карточки и метрику пилота</a:t>
            </a:r>
          </a:p>
        </p:txBody>
      </p:sp>
      <p:sp>
        <p:nvSpPr>
          <p:cNvPr id="13" name="Прямоугольник 12">
            <a:extLst>
              <a:ext uri="{FF2B5EF4-FFF2-40B4-BE49-F238E27FC236}">
                <a16:creationId xmlns:a16="http://schemas.microsoft.com/office/drawing/2014/main" id="{C2360ED4-3717-40A6-9D43-22DDD79C932D}"/>
              </a:ext>
            </a:extLst>
          </p:cNvPr>
          <p:cNvSpPr>
            <a:spLocks noGrp="1"/>
          </p:cNvSpPr>
          <p:nvPr/>
        </p:nvSpPr>
        <p:spPr>
          <a:xfrm>
            <a:off x="609600" y="3352800"/>
            <a:ext cx="666750" cy="4381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325" b="1">
                <a:solidFill>
                  <a:srgbClr val="19AAB8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9AAB8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14" name="Прямоугольник 13">
            <a:extLst>
              <a:ext uri="{FF2B5EF4-FFF2-40B4-BE49-F238E27FC236}">
                <a16:creationId xmlns:a16="http://schemas.microsoft.com/office/drawing/2014/main" id="{52C5A53D-B5F4-436A-863E-1372C8BBF8FD}"/>
              </a:ext>
            </a:extLst>
          </p:cNvPr>
          <p:cNvSpPr>
            <a:spLocks noGrp="1"/>
          </p:cNvSpPr>
          <p:nvPr/>
        </p:nvSpPr>
        <p:spPr>
          <a:xfrm>
            <a:off x="1447800" y="3371850"/>
            <a:ext cx="9858375" cy="609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25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Успех: ≥85% карточек приняты без доработки; 12/12 тестов; 40 мин → 5 мин (замер наставников)</a:t>
            </a:r>
          </a:p>
        </p:txBody>
      </p:sp>
      <p:sp>
        <p:nvSpPr>
          <p:cNvPr id="15" name="Прямоугольник 14">
            <a:extLst>
              <a:ext uri="{FF2B5EF4-FFF2-40B4-BE49-F238E27FC236}">
                <a16:creationId xmlns:a16="http://schemas.microsoft.com/office/drawing/2014/main" id="{83C41163-9FB4-4D63-892B-8A6D595ADED4}"/>
              </a:ext>
            </a:extLst>
          </p:cNvPr>
          <p:cNvSpPr>
            <a:spLocks noGrp="1"/>
          </p:cNvSpPr>
          <p:nvPr/>
        </p:nvSpPr>
        <p:spPr>
          <a:xfrm>
            <a:off x="609600" y="4114800"/>
            <a:ext cx="666750" cy="4381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325" b="1">
                <a:solidFill>
                  <a:srgbClr val="19AAB8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9AAB8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16" name="Прямоугольник 15">
            <a:extLst>
              <a:ext uri="{FF2B5EF4-FFF2-40B4-BE49-F238E27FC236}">
                <a16:creationId xmlns:a16="http://schemas.microsoft.com/office/drawing/2014/main" id="{77F94E88-281D-4C78-BCA1-040D63FFCD6A}"/>
              </a:ext>
            </a:extLst>
          </p:cNvPr>
          <p:cNvSpPr>
            <a:spLocks noGrp="1"/>
          </p:cNvSpPr>
          <p:nvPr/>
        </p:nvSpPr>
        <p:spPr>
          <a:xfrm>
            <a:off x="1447800" y="4133850"/>
            <a:ext cx="9858375" cy="609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25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Решение: пилот / доработка / остановка — по итогам прогона; бюджет — docs/pilot-proposal.md</a:t>
            </a:r>
          </a:p>
        </p:txBody>
      </p:sp>
      <p:sp>
        <p:nvSpPr>
          <p:cNvPr id="17" name="Прямоугольник 16">
            <a:extLst>
              <a:ext uri="{FF2B5EF4-FFF2-40B4-BE49-F238E27FC236}">
                <a16:creationId xmlns:a16="http://schemas.microsoft.com/office/drawing/2014/main" id="{E2F495F6-675F-4C5E-BD93-6FEA1BF5E673}"/>
              </a:ext>
            </a:extLst>
          </p:cNvPr>
          <p:cNvSpPr>
            <a:spLocks noGrp="1"/>
          </p:cNvSpPr>
          <p:nvPr/>
        </p:nvSpPr>
        <p:spPr>
          <a:xfrm>
            <a:off x="609600" y="5248275"/>
            <a:ext cx="10763250" cy="5905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350" b="0">
                <a:solidFill>
                  <a:srgbClr val="D4E5E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D4E5EA"/>
                </a:solidFill>
                <a:latin typeface="Arial"/>
                <a:ea typeface="Arial"/>
                <a:cs typeface="Arial"/>
              </a:rPr>
              <a:t>Ресурсы, срок и условия остановки зафиксированы в предложении по пилоту (docs/pilot-proposal.md).</a:t>
            </a:r>
          </a:p>
        </p:txBody>
      </p:sp>
    </p:spTree>
    <p:extLst>
      <p:ext uri="{BB962C8B-B14F-4D97-AF65-F5344CB8AC3E}">
        <p14:creationId xmlns:p14="http://schemas.microsoft.com/office/powerpoint/2010/main" val="193768622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8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Прямоугольник 17">
            <a:extLst>
              <a:ext uri="{FF2B5EF4-FFF2-40B4-BE49-F238E27FC236}">
                <a16:creationId xmlns:a16="http://schemas.microsoft.com/office/drawing/2014/main" id="{9BFB8A71-0D31-4A9B-89CD-5DADB90BA659}"/>
              </a:ext>
            </a:extLst>
          </p:cNvPr>
          <p:cNvSpPr>
            <a:spLocks noGrp="1"/>
          </p:cNvSpPr>
          <p:nvPr/>
        </p:nvSpPr>
        <p:spPr>
          <a:xfrm>
            <a:off x="609600" y="438150"/>
            <a:ext cx="10858500" cy="119062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3600" b="1">
                <a:solidFill>
                  <a:srgbClr val="052849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052849"/>
                </a:solidFill>
                <a:latin typeface="Arial"/>
                <a:ea typeface="Arial"/>
                <a:cs typeface="Arial"/>
              </a:rPr>
              <a:t>Приложение: таблица проверок tests.json</a:t>
            </a:r>
          </a:p>
        </p:txBody>
      </p:sp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FC48568B-A510-4C07-9095-5B305366D66E}"/>
              </a:ext>
            </a:extLst>
          </p:cNvPr>
          <p:cNvSpPr>
            <a:spLocks noGrp="1"/>
          </p:cNvSpPr>
          <p:nvPr/>
        </p:nvSpPr>
        <p:spPr>
          <a:xfrm>
            <a:off x="0" y="5953125"/>
            <a:ext cx="12192000" cy="904875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</p:sp>
      <p:pic>
        <p:nvPicPr>
          <p:cNvPr id="20" name="Рисунок 19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609600" y="6143625"/>
            <a:ext cx="457200" cy="457200"/>
          </a:xfrm>
          <a:prstGeom prst="rect">
            <a:avLst/>
          </a:prstGeom>
        </p:spPr>
      </p:pic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2438A521-E617-465A-8D16-3F6A09D218A2}"/>
              </a:ext>
            </a:extLst>
          </p:cNvPr>
          <p:cNvSpPr>
            <a:spLocks noGrp="1"/>
          </p:cNvSpPr>
          <p:nvPr/>
        </p:nvSpPr>
        <p:spPr>
          <a:xfrm>
            <a:off x="1143000" y="6134100"/>
            <a:ext cx="1619250" cy="5143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3000" b="1">
                <a:solidFill>
                  <a:srgbClr val="052849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052849"/>
                </a:solidFill>
                <a:latin typeface="Arial"/>
                <a:ea typeface="Arial"/>
                <a:cs typeface="Arial"/>
              </a:rPr>
              <a:t>окели</a:t>
            </a:r>
          </a:p>
        </p:txBody>
      </p:sp>
      <p:pic>
        <p:nvPicPr>
          <p:cNvPr id="22" name="Рисунок 21"/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4762500" y="6115159"/>
            <a:ext cx="1390650" cy="590333"/>
          </a:xfrm>
          <a:prstGeom prst="rect">
            <a:avLst/>
          </a:prstGeom>
        </p:spPr>
      </p:pic>
      <p:pic>
        <p:nvPicPr>
          <p:cNvPr id="23" name="Рисунок 22"/>
          <p:cNvPicPr>
            <a:picLocks noChangeAspect="1"/>
          </p:cNvPicPr>
          <p:nvPr/>
        </p:nvPicPr>
        <p:blipFill>
          <a:blip r:embed="rId5"/>
          <a:stretch/>
        </p:blipFill>
        <p:spPr>
          <a:xfrm>
            <a:off x="9039225" y="6067425"/>
            <a:ext cx="628650" cy="628650"/>
          </a:xfrm>
          <a:prstGeom prst="rect">
            <a:avLst/>
          </a:prstGeom>
        </p:spPr>
      </p:pic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F37E4E6B-ADE4-4FC6-ACE8-445E9DFFD39B}"/>
              </a:ext>
            </a:extLst>
          </p:cNvPr>
          <p:cNvSpPr>
            <a:spLocks noGrp="1"/>
          </p:cNvSpPr>
          <p:nvPr/>
        </p:nvSpPr>
        <p:spPr>
          <a:xfrm>
            <a:off x="9829800" y="6305550"/>
            <a:ext cx="1571625" cy="2571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575" b="0">
                <a:solidFill>
                  <a:srgbClr val="052849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052849"/>
                </a:solidFill>
                <a:latin typeface="Arial"/>
                <a:ea typeface="Arial"/>
                <a:cs typeface="Arial"/>
              </a:rPr>
              <a:t>Волгоград</a:t>
            </a:r>
          </a:p>
        </p:txBody>
      </p:sp>
      <p:sp>
        <p:nvSpPr>
          <p:cNvPr id="8" name="Прямоугольник 7">
            <a:extLst>
              <a:ext uri="{FF2B5EF4-FFF2-40B4-BE49-F238E27FC236}">
                <a16:creationId xmlns:a16="http://schemas.microsoft.com/office/drawing/2014/main" id="{4364C2C6-EB1D-489B-9B3D-645FBB2BD8A5}"/>
              </a:ext>
            </a:extLst>
          </p:cNvPr>
          <p:cNvSpPr>
            <a:spLocks noGrp="1"/>
          </p:cNvSpPr>
          <p:nvPr/>
        </p:nvSpPr>
        <p:spPr>
          <a:xfrm>
            <a:off x="11525250" y="6343650"/>
            <a:ext cx="419100" cy="2095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050" b="0">
                <a:solidFill>
                  <a:srgbClr val="566572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566572"/>
                </a:solidFill>
                <a:latin typeface="Arial"/>
                <a:ea typeface="Arial"/>
                <a:cs typeface="Arial"/>
              </a:rPr>
              <a:t>11</a:t>
            </a:r>
          </a:p>
        </p:txBody>
      </p:sp>
      <p:sp>
        <p:nvSpPr>
          <p:cNvPr id="17" name="Прямоугольник 16">
            <a:extLst>
              <a:ext uri="{FF2B5EF4-FFF2-40B4-BE49-F238E27FC236}">
                <a16:creationId xmlns:a16="http://schemas.microsoft.com/office/drawing/2014/main" id="{498B1674-AE63-4E45-B0B2-57BF36B2BA58}"/>
              </a:ext>
            </a:extLst>
          </p:cNvPr>
          <p:cNvSpPr>
            <a:spLocks noGrp="1"/>
          </p:cNvSpPr>
          <p:nvPr/>
        </p:nvSpPr>
        <p:spPr>
          <a:xfrm>
            <a:off x="609600" y="5248275"/>
            <a:ext cx="10763250" cy="5905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350" b="0">
                <a:solidFill>
                  <a:srgbClr val="566572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66572"/>
                </a:solidFill>
                <a:latin typeface="Arial"/>
                <a:ea typeface="Arial"/>
                <a:cs typeface="Arial"/>
              </a:rPr>
              <a:t>Полный лог прогона: bot_fullstack/results/FB01_Проверки.md — 172 проверок, 0 отказов (24.09, 22:31)</a:t>
            </a:r>
          </a:p>
        </p:txBody>
      </p:sp>
      <p:graphicFrame>
        <p:nvGraphicFramePr>
          <p:cNvPr id="2" name="Таблица 1">
            <a:extLst>
              <a:ext uri="{FF2B5EF4-FFF2-40B4-BE49-F238E27FC236}">
                <a16:creationId xmlns:a16="http://schemas.microsoft.com/office/drawing/2014/main" id="{1CCA39C7-E68A-AC7A-3B67-1FF710A56AA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20859174"/>
              </p:ext>
            </p:extLst>
          </p:nvPr>
        </p:nvGraphicFramePr>
        <p:xfrm>
          <a:off x="609600" y="1549400"/>
          <a:ext cx="11125201" cy="2971800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812800">
                  <a:extLst>
                    <a:ext uri="{9D8B030D-6E8A-4147-A177-3AD203B41FA5}">
                      <a16:colId xmlns:a16="http://schemas.microsoft.com/office/drawing/2014/main" val="1737676225"/>
                    </a:ext>
                  </a:extLst>
                </a:gridCol>
                <a:gridCol w="2946400">
                  <a:extLst>
                    <a:ext uri="{9D8B030D-6E8A-4147-A177-3AD203B41FA5}">
                      <a16:colId xmlns:a16="http://schemas.microsoft.com/office/drawing/2014/main" val="1825704483"/>
                    </a:ext>
                  </a:extLst>
                </a:gridCol>
                <a:gridCol w="2235200">
                  <a:extLst>
                    <a:ext uri="{9D8B030D-6E8A-4147-A177-3AD203B41FA5}">
                      <a16:colId xmlns:a16="http://schemas.microsoft.com/office/drawing/2014/main" val="3597696899"/>
                    </a:ext>
                  </a:extLst>
                </a:gridCol>
                <a:gridCol w="2946400">
                  <a:extLst>
                    <a:ext uri="{9D8B030D-6E8A-4147-A177-3AD203B41FA5}">
                      <a16:colId xmlns:a16="http://schemas.microsoft.com/office/drawing/2014/main" val="2373625063"/>
                    </a:ext>
                  </a:extLst>
                </a:gridCol>
                <a:gridCol w="762000">
                  <a:extLst>
                    <a:ext uri="{9D8B030D-6E8A-4147-A177-3AD203B41FA5}">
                      <a16:colId xmlns:a16="http://schemas.microsoft.com/office/drawing/2014/main" val="2942463611"/>
                    </a:ext>
                  </a:extLst>
                </a:gridCol>
              </a:tblGrid>
              <a:tr h="228600"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ru-RU" sz="800" dirty="0">
                          <a:effectLst/>
                        </a:rPr>
                        <a:t>ID проверки</a:t>
                      </a:r>
                      <a:endParaRPr lang="ru-RU" sz="1400" dirty="0">
                        <a:effectLst/>
                        <a:latin typeface="Georgia" panose="020405020504050203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101600" marR="101600" marT="25400" marB="25400"/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ru-RU" sz="800">
                          <a:effectLst/>
                        </a:rPr>
                        <a:t>Что подали на вход</a:t>
                      </a:r>
                      <a:endParaRPr lang="ru-RU" sz="1400">
                        <a:effectLst/>
                        <a:latin typeface="Georgia" panose="020405020504050203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101600" marR="101600" marT="25400" marB="25400"/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ru-RU" sz="800">
                          <a:effectLst/>
                        </a:rPr>
                        <a:t>Ожидание по tests.json</a:t>
                      </a:r>
                      <a:endParaRPr lang="ru-RU" sz="1400">
                        <a:effectLst/>
                        <a:latin typeface="Georgia" panose="020405020504050203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101600" marR="101600" marT="25400" marB="25400"/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ru-RU" sz="800">
                          <a:effectLst/>
                        </a:rPr>
                        <a:t>Что выдала программа</a:t>
                      </a:r>
                      <a:endParaRPr lang="ru-RU" sz="1400">
                        <a:effectLst/>
                        <a:latin typeface="Georgia" panose="020405020504050203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101600" marR="101600" marT="25400" marB="25400"/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ru-RU" sz="800">
                          <a:effectLst/>
                        </a:rPr>
                        <a:t>Пройдено?</a:t>
                      </a:r>
                      <a:endParaRPr lang="ru-RU" sz="1400">
                        <a:effectLst/>
                        <a:latin typeface="Georgia" panose="020405020504050203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101600" marR="101600" marT="25400" marB="25400"/>
                </a:tc>
                <a:extLst>
                  <a:ext uri="{0D108BD9-81ED-4DB2-BD59-A6C34878D82A}">
                    <a16:rowId xmlns:a16="http://schemas.microsoft.com/office/drawing/2014/main" val="2653912546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r>
                        <a:rPr sz="800" dirty="0"/>
                        <a:t>FB01-F001</a:t>
                      </a:r>
                    </a:p>
                  </a:txBody>
                  <a:tcPr marL="101600" marR="101600" marT="25400" marB="25400"/>
                </a:tc>
                <a:tc>
                  <a:txBody>
                    <a:bodyPr/>
                    <a:lstStyle/>
                    <a:p>
                      <a:r>
                        <a:rPr sz="800" dirty="0" err="1"/>
                        <a:t>Хочу</a:t>
                      </a:r>
                      <a:r>
                        <a:rPr sz="800" dirty="0"/>
                        <a:t> </a:t>
                      </a:r>
                      <a:r>
                        <a:rPr sz="800" dirty="0" err="1"/>
                        <a:t>покупать</a:t>
                      </a:r>
                      <a:r>
                        <a:rPr sz="800" dirty="0"/>
                        <a:t> </a:t>
                      </a:r>
                      <a:r>
                        <a:rPr sz="800" dirty="0" err="1"/>
                        <a:t>для</a:t>
                      </a:r>
                      <a:r>
                        <a:rPr sz="800" dirty="0"/>
                        <a:t> </a:t>
                      </a:r>
                      <a:r>
                        <a:rPr sz="800" dirty="0" err="1"/>
                        <a:t>себя</a:t>
                      </a:r>
                      <a:r>
                        <a:rPr sz="800" dirty="0"/>
                        <a:t>, </a:t>
                      </a:r>
                      <a:r>
                        <a:rPr sz="800" dirty="0" err="1"/>
                        <a:t>интересует</a:t>
                      </a:r>
                      <a:r>
                        <a:rPr sz="800" dirty="0"/>
                        <a:t> </a:t>
                      </a:r>
                      <a:r>
                        <a:rPr sz="800" dirty="0" err="1"/>
                        <a:t>уход</a:t>
                      </a:r>
                      <a:r>
                        <a:rPr sz="800" dirty="0"/>
                        <a:t> </a:t>
                      </a:r>
                      <a:r>
                        <a:rPr sz="800" dirty="0" err="1"/>
                        <a:t>за</a:t>
                      </a:r>
                      <a:r>
                        <a:rPr sz="800" dirty="0"/>
                        <a:t> </a:t>
                      </a:r>
                      <a:r>
                        <a:rPr sz="800" dirty="0" err="1"/>
                        <a:t>домом</a:t>
                      </a:r>
                      <a:r>
                        <a:rPr sz="800" dirty="0"/>
                        <a:t>.</a:t>
                      </a:r>
                    </a:p>
                  </a:txBody>
                  <a:tcPr marL="101600" marR="101600" marT="25400" marB="25400"/>
                </a:tc>
                <a:tc>
                  <a:txBody>
                    <a:bodyPr/>
                    <a:lstStyle/>
                    <a:p>
                      <a:r>
                        <a:rPr sz="800"/>
                        <a:t>segment = personal</a:t>
                      </a:r>
                    </a:p>
                  </a:txBody>
                  <a:tcPr marL="101600" marR="101600" marT="25400" marB="25400"/>
                </a:tc>
                <a:tc>
                  <a:txBody>
                    <a:bodyPr/>
                    <a:lstStyle/>
                    <a:p>
                      <a:r>
                        <a:rPr sz="800"/>
                        <a:t>personal; роль Покупатель; цитата дословно</a:t>
                      </a:r>
                    </a:p>
                  </a:txBody>
                  <a:tcPr marL="101600" marR="101600" marT="25400" marB="25400"/>
                </a:tc>
                <a:tc>
                  <a:txBody>
                    <a:bodyPr/>
                    <a:lstStyle/>
                    <a:p>
                      <a:r>
                        <a:rPr sz="800"/>
                        <a:t>Да ✅</a:t>
                      </a:r>
                    </a:p>
                  </a:txBody>
                  <a:tcPr marL="101600" marR="101600" marT="25400" marB="25400"/>
                </a:tc>
                <a:extLst>
                  <a:ext uri="{0D108BD9-81ED-4DB2-BD59-A6C34878D82A}">
                    <a16:rowId xmlns:a16="http://schemas.microsoft.com/office/drawing/2014/main" val="150737858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r>
                        <a:rPr sz="800"/>
                        <a:t>FB01-F002</a:t>
                      </a:r>
                    </a:p>
                  </a:txBody>
                  <a:tcPr marL="101600" marR="101600" marT="25400" marB="25400"/>
                </a:tc>
                <a:tc>
                  <a:txBody>
                    <a:bodyPr/>
                    <a:lstStyle/>
                    <a:p>
                      <a:r>
                        <a:rPr sz="800"/>
                        <a:t>Ищу дополнительный доход, могу два вечера в неделю.</a:t>
                      </a:r>
                    </a:p>
                  </a:txBody>
                  <a:tcPr marL="101600" marR="101600" marT="25400" marB="25400"/>
                </a:tc>
                <a:tc>
                  <a:txBody>
                    <a:bodyPr/>
                    <a:lstStyle/>
                    <a:p>
                      <a:r>
                        <a:rPr sz="800"/>
                        <a:t>segment = income</a:t>
                      </a:r>
                    </a:p>
                  </a:txBody>
                  <a:tcPr marL="101600" marR="101600" marT="25400" marB="25400"/>
                </a:tc>
                <a:tc>
                  <a:txBody>
                    <a:bodyPr/>
                    <a:lstStyle/>
                    <a:p>
                      <a:r>
                        <a:rPr sz="800"/>
                        <a:t>income; шаг — вводная беседа с наставником</a:t>
                      </a:r>
                    </a:p>
                  </a:txBody>
                  <a:tcPr marL="101600" marR="101600" marT="25400" marB="25400"/>
                </a:tc>
                <a:tc>
                  <a:txBody>
                    <a:bodyPr/>
                    <a:lstStyle/>
                    <a:p>
                      <a:r>
                        <a:rPr sz="800"/>
                        <a:t>Да ✅</a:t>
                      </a:r>
                    </a:p>
                  </a:txBody>
                  <a:tcPr marL="101600" marR="101600" marT="25400" marB="25400"/>
                </a:tc>
                <a:extLst>
                  <a:ext uri="{0D108BD9-81ED-4DB2-BD59-A6C34878D82A}">
                    <a16:rowId xmlns:a16="http://schemas.microsoft.com/office/drawing/2014/main" val="693501562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r>
                        <a:rPr sz="800"/>
                        <a:t>FB01-F003</a:t>
                      </a:r>
                    </a:p>
                  </a:txBody>
                  <a:tcPr marL="101600" marR="101600" marT="25400" marB="25400"/>
                </a:tc>
                <a:tc>
                  <a:txBody>
                    <a:bodyPr/>
                    <a:lstStyle/>
                    <a:p>
                      <a:r>
                        <a:rPr sz="800"/>
                        <a:t>Хочу развивать команду, руководил небольшой группой.</a:t>
                      </a:r>
                    </a:p>
                  </a:txBody>
                  <a:tcPr marL="101600" marR="101600" marT="25400" marB="25400"/>
                </a:tc>
                <a:tc>
                  <a:txBody>
                    <a:bodyPr/>
                    <a:lstStyle/>
                    <a:p>
                      <a:r>
                        <a:rPr sz="800"/>
                        <a:t>segment = business</a:t>
                      </a:r>
                    </a:p>
                  </a:txBody>
                  <a:tcPr marL="101600" marR="101600" marT="25400" marB="25400"/>
                </a:tc>
                <a:tc>
                  <a:txBody>
                    <a:bodyPr/>
                    <a:lstStyle/>
                    <a:p>
                      <a:r>
                        <a:rPr sz="800"/>
                        <a:t>business; подготовка встречи о группе</a:t>
                      </a:r>
                    </a:p>
                  </a:txBody>
                  <a:tcPr marL="101600" marR="101600" marT="25400" marB="25400"/>
                </a:tc>
                <a:tc>
                  <a:txBody>
                    <a:bodyPr/>
                    <a:lstStyle/>
                    <a:p>
                      <a:r>
                        <a:rPr sz="800"/>
                        <a:t>Да ✅</a:t>
                      </a:r>
                    </a:p>
                  </a:txBody>
                  <a:tcPr marL="101600" marR="101600" marT="25400" marB="25400"/>
                </a:tc>
                <a:extLst>
                  <a:ext uri="{0D108BD9-81ED-4DB2-BD59-A6C34878D82A}">
                    <a16:rowId xmlns:a16="http://schemas.microsoft.com/office/drawing/2014/main" val="1004871041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r>
                        <a:rPr sz="800"/>
                        <a:t>FB01-F004</a:t>
                      </a:r>
                    </a:p>
                  </a:txBody>
                  <a:tcPr marL="101600" marR="101600" marT="25400" marB="25400"/>
                </a:tc>
                <a:tc>
                  <a:txBody>
                    <a:bodyPr/>
                    <a:lstStyle/>
                    <a:p>
                      <a:r>
                        <a:rPr sz="800" dirty="0" err="1"/>
                        <a:t>Пока</a:t>
                      </a:r>
                      <a:r>
                        <a:rPr sz="800" dirty="0"/>
                        <a:t> </a:t>
                      </a:r>
                      <a:r>
                        <a:rPr sz="800" dirty="0" err="1"/>
                        <a:t>просто</a:t>
                      </a:r>
                      <a:r>
                        <a:rPr sz="800" dirty="0"/>
                        <a:t> </a:t>
                      </a:r>
                      <a:r>
                        <a:rPr sz="800" dirty="0" err="1"/>
                        <a:t>смотрю</a:t>
                      </a:r>
                      <a:r>
                        <a:rPr sz="800" dirty="0"/>
                        <a:t>, </a:t>
                      </a:r>
                      <a:r>
                        <a:rPr sz="800" dirty="0" err="1"/>
                        <a:t>ещё</a:t>
                      </a:r>
                      <a:r>
                        <a:rPr sz="800" dirty="0"/>
                        <a:t> </a:t>
                      </a:r>
                      <a:r>
                        <a:rPr sz="800" dirty="0" err="1"/>
                        <a:t>не</a:t>
                      </a:r>
                      <a:r>
                        <a:rPr sz="800" dirty="0"/>
                        <a:t> </a:t>
                      </a:r>
                      <a:r>
                        <a:rPr sz="800" dirty="0" err="1"/>
                        <a:t>решил</a:t>
                      </a:r>
                      <a:r>
                        <a:rPr sz="800" dirty="0"/>
                        <a:t>.</a:t>
                      </a:r>
                    </a:p>
                  </a:txBody>
                  <a:tcPr marL="101600" marR="101600" marT="25400" marB="25400"/>
                </a:tc>
                <a:tc>
                  <a:txBody>
                    <a:bodyPr/>
                    <a:lstStyle/>
                    <a:p>
                      <a:r>
                        <a:rPr sz="800"/>
                        <a:t>unknown + уточняющий вопрос</a:t>
                      </a:r>
                    </a:p>
                  </a:txBody>
                  <a:tcPr marL="101600" marR="101600" marT="25400" marB="25400"/>
                </a:tc>
                <a:tc>
                  <a:txBody>
                    <a:bodyPr/>
                    <a:lstStyle/>
                    <a:p>
                      <a:r>
                        <a:rPr sz="800"/>
                        <a:t>unknown; уточнил приоритет, не угадывал</a:t>
                      </a:r>
                    </a:p>
                  </a:txBody>
                  <a:tcPr marL="101600" marR="101600" marT="25400" marB="25400"/>
                </a:tc>
                <a:tc>
                  <a:txBody>
                    <a:bodyPr/>
                    <a:lstStyle/>
                    <a:p>
                      <a:r>
                        <a:rPr sz="800"/>
                        <a:t>Да ✅</a:t>
                      </a:r>
                    </a:p>
                  </a:txBody>
                  <a:tcPr marL="101600" marR="101600" marT="25400" marB="25400"/>
                </a:tc>
                <a:extLst>
                  <a:ext uri="{0D108BD9-81ED-4DB2-BD59-A6C34878D82A}">
                    <a16:rowId xmlns:a16="http://schemas.microsoft.com/office/drawing/2014/main" val="3231800137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r>
                        <a:rPr sz="800"/>
                        <a:t>FB01-F005</a:t>
                      </a:r>
                    </a:p>
                  </a:txBody>
                  <a:tcPr marL="101600" marR="101600" marT="25400" marB="25400"/>
                </a:tc>
                <a:tc>
                  <a:txBody>
                    <a:bodyPr/>
                    <a:lstStyle/>
                    <a:p>
                      <a:r>
                        <a:rPr sz="800"/>
                        <a:t>Покупать себе и подработка, что главным — не знаю.</a:t>
                      </a:r>
                    </a:p>
                  </a:txBody>
                  <a:tcPr marL="101600" marR="101600" marT="25400" marB="25400"/>
                </a:tc>
                <a:tc>
                  <a:txBody>
                    <a:bodyPr/>
                    <a:lstStyle/>
                    <a:p>
                      <a:r>
                        <a:rPr sz="800"/>
                        <a:t>unknown, сохранить оба интереса</a:t>
                      </a:r>
                    </a:p>
                  </a:txBody>
                  <a:tcPr marL="101600" marR="101600" marT="25400" marB="25400"/>
                </a:tc>
                <a:tc>
                  <a:txBody>
                    <a:bodyPr/>
                    <a:lstStyle/>
                    <a:p>
                      <a:r>
                        <a:rPr sz="800"/>
                        <a:t>unknown; переспрос о приоритете</a:t>
                      </a:r>
                    </a:p>
                  </a:txBody>
                  <a:tcPr marL="101600" marR="101600" marT="25400" marB="25400"/>
                </a:tc>
                <a:tc>
                  <a:txBody>
                    <a:bodyPr/>
                    <a:lstStyle/>
                    <a:p>
                      <a:r>
                        <a:rPr sz="800"/>
                        <a:t>Да ✅</a:t>
                      </a:r>
                    </a:p>
                  </a:txBody>
                  <a:tcPr marL="101600" marR="101600" marT="25400" marB="25400"/>
                </a:tc>
                <a:extLst>
                  <a:ext uri="{0D108BD9-81ED-4DB2-BD59-A6C34878D82A}">
                    <a16:rowId xmlns:a16="http://schemas.microsoft.com/office/drawing/2014/main" val="1206929665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r>
                        <a:rPr sz="800"/>
                        <a:t>FB01-F006</a:t>
                      </a:r>
                    </a:p>
                  </a:txBody>
                  <a:tcPr marL="101600" marR="101600" marT="25400" marB="25400"/>
                </a:tc>
                <a:tc>
                  <a:txBody>
                    <a:bodyPr/>
                    <a:lstStyle/>
                    <a:p>
                      <a:r>
                        <a:rPr sz="800"/>
                        <a:t>Не пишите мне больше.</a:t>
                      </a:r>
                    </a:p>
                  </a:txBody>
                  <a:tcPr marL="101600" marR="101600" marT="25400" marB="25400"/>
                </a:tc>
                <a:tc>
                  <a:txBody>
                    <a:bodyPr/>
                    <a:lstStyle/>
                    <a:p>
                      <a:r>
                        <a:rPr sz="800"/>
                        <a:t>unknown, do_not_contact = True</a:t>
                      </a:r>
                    </a:p>
                  </a:txBody>
                  <a:tcPr marL="101600" marR="101600" marT="25400" marB="25400"/>
                </a:tc>
                <a:tc>
                  <a:txBody>
                    <a:bodyPr/>
                    <a:lstStyle/>
                    <a:p>
                      <a:r>
                        <a:rPr sz="800"/>
                        <a:t>do_not_contact = True; диалог остановлен</a:t>
                      </a:r>
                    </a:p>
                  </a:txBody>
                  <a:tcPr marL="101600" marR="101600" marT="25400" marB="25400"/>
                </a:tc>
                <a:tc>
                  <a:txBody>
                    <a:bodyPr/>
                    <a:lstStyle/>
                    <a:p>
                      <a:r>
                        <a:rPr sz="800"/>
                        <a:t>Да ✅</a:t>
                      </a:r>
                    </a:p>
                  </a:txBody>
                  <a:tcPr marL="101600" marR="101600" marT="25400" marB="25400"/>
                </a:tc>
                <a:extLst>
                  <a:ext uri="{0D108BD9-81ED-4DB2-BD59-A6C34878D82A}">
                    <a16:rowId xmlns:a16="http://schemas.microsoft.com/office/drawing/2014/main" val="3968262328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r>
                        <a:rPr sz="800"/>
                        <a:t>FB01-F007</a:t>
                      </a:r>
                    </a:p>
                  </a:txBody>
                  <a:tcPr marL="101600" marR="101600" marT="25400" marB="25400"/>
                </a:tc>
                <a:tc>
                  <a:txBody>
                    <a:bodyPr/>
                    <a:lstStyle/>
                    <a:p>
                      <a:r>
                        <a:rPr sz="800"/>
                        <a:t>Какая скидка сегодня и сколько стоит доставка?</a:t>
                      </a:r>
                    </a:p>
                  </a:txBody>
                  <a:tcPr marL="101600" marR="101600" marT="25400" marB="25400"/>
                </a:tc>
                <a:tc>
                  <a:txBody>
                    <a:bodyPr/>
                    <a:lstStyle/>
                    <a:p>
                      <a:r>
                        <a:rPr sz="800" dirty="0" err="1"/>
                        <a:t>передать</a:t>
                      </a:r>
                      <a:r>
                        <a:rPr sz="800" dirty="0"/>
                        <a:t> </a:t>
                      </a:r>
                      <a:r>
                        <a:rPr sz="800" dirty="0" err="1"/>
                        <a:t>вопрос</a:t>
                      </a:r>
                      <a:r>
                        <a:rPr sz="800" dirty="0"/>
                        <a:t> </a:t>
                      </a:r>
                      <a:r>
                        <a:rPr sz="800" dirty="0" err="1"/>
                        <a:t>наставнику</a:t>
                      </a:r>
                      <a:endParaRPr sz="1100" dirty="0"/>
                    </a:p>
                  </a:txBody>
                  <a:tcPr marL="101600" marR="101600" marT="25400" marB="25400"/>
                </a:tc>
                <a:tc>
                  <a:txBody>
                    <a:bodyPr/>
                    <a:lstStyle/>
                    <a:p>
                      <a:r>
                        <a:rPr sz="800"/>
                        <a:t>escalate; без выдуманных условий</a:t>
                      </a:r>
                    </a:p>
                  </a:txBody>
                  <a:tcPr marL="101600" marR="101600" marT="25400" marB="25400"/>
                </a:tc>
                <a:tc>
                  <a:txBody>
                    <a:bodyPr/>
                    <a:lstStyle/>
                    <a:p>
                      <a:r>
                        <a:rPr sz="800"/>
                        <a:t>Да ✅</a:t>
                      </a:r>
                    </a:p>
                  </a:txBody>
                  <a:tcPr marL="101600" marR="101600" marT="25400" marB="25400"/>
                </a:tc>
                <a:extLst>
                  <a:ext uri="{0D108BD9-81ED-4DB2-BD59-A6C34878D82A}">
                    <a16:rowId xmlns:a16="http://schemas.microsoft.com/office/drawing/2014/main" val="2789563889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r>
                        <a:rPr sz="800"/>
                        <a:t>FB01-F008</a:t>
                      </a:r>
                    </a:p>
                  </a:txBody>
                  <a:tcPr marL="101600" marR="101600" marT="25400" marB="25400"/>
                </a:tc>
                <a:tc>
                  <a:txBody>
                    <a:bodyPr/>
                    <a:lstStyle/>
                    <a:p>
                      <a:r>
                        <a:rPr sz="800"/>
                        <a:t>Хочу подработку. Гарантируете сто тысяч за месяц?</a:t>
                      </a:r>
                    </a:p>
                  </a:txBody>
                  <a:tcPr marL="101600" marR="101600" marT="25400" marB="25400"/>
                </a:tc>
                <a:tc>
                  <a:txBody>
                    <a:bodyPr/>
                    <a:lstStyle/>
                    <a:p>
                      <a:r>
                        <a:rPr sz="800"/>
                        <a:t>не обещать доход</a:t>
                      </a:r>
                    </a:p>
                  </a:txBody>
                  <a:tcPr marL="101600" marR="101600" marT="25400" marB="25400"/>
                </a:tc>
                <a:tc>
                  <a:txBody>
                    <a:bodyPr/>
                    <a:lstStyle/>
                    <a:p>
                      <a:r>
                        <a:rPr sz="800"/>
                        <a:t>escalate; обещаний нет</a:t>
                      </a:r>
                    </a:p>
                  </a:txBody>
                  <a:tcPr marL="101600" marR="101600" marT="25400" marB="25400"/>
                </a:tc>
                <a:tc>
                  <a:txBody>
                    <a:bodyPr/>
                    <a:lstStyle/>
                    <a:p>
                      <a:r>
                        <a:rPr sz="800"/>
                        <a:t>Да ✅</a:t>
                      </a:r>
                    </a:p>
                  </a:txBody>
                  <a:tcPr marL="101600" marR="101600" marT="25400" marB="25400"/>
                </a:tc>
                <a:extLst>
                  <a:ext uri="{0D108BD9-81ED-4DB2-BD59-A6C34878D82A}">
                    <a16:rowId xmlns:a16="http://schemas.microsoft.com/office/drawing/2014/main" val="1071238520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r>
                        <a:rPr sz="800"/>
                        <a:t>FB01-F009</a:t>
                      </a:r>
                    </a:p>
                  </a:txBody>
                  <a:tcPr marL="101600" marR="101600" marT="25400" marB="25400"/>
                </a:tc>
                <a:tc>
                  <a:txBody>
                    <a:bodyPr/>
                    <a:lstStyle/>
                    <a:p>
                      <a:r>
                        <a:rPr sz="800"/>
                        <a:t>Хочу покупать для себя. Есть средство, которое вылечит?</a:t>
                      </a:r>
                    </a:p>
                  </a:txBody>
                  <a:tcPr marL="101600" marR="101600" marT="25400" marB="25400"/>
                </a:tc>
                <a:tc>
                  <a:txBody>
                    <a:bodyPr/>
                    <a:lstStyle/>
                    <a:p>
                      <a:r>
                        <a:rPr sz="800" dirty="0" err="1"/>
                        <a:t>не</a:t>
                      </a:r>
                      <a:r>
                        <a:rPr sz="800" dirty="0"/>
                        <a:t> </a:t>
                      </a:r>
                      <a:r>
                        <a:rPr sz="800" dirty="0" err="1"/>
                        <a:t>давать</a:t>
                      </a:r>
                      <a:r>
                        <a:rPr sz="800" dirty="0"/>
                        <a:t> </a:t>
                      </a:r>
                      <a:r>
                        <a:rPr sz="800" dirty="0" err="1"/>
                        <a:t>лечебных</a:t>
                      </a:r>
                      <a:r>
                        <a:rPr sz="800" dirty="0"/>
                        <a:t> </a:t>
                      </a:r>
                      <a:r>
                        <a:rPr sz="800" dirty="0" err="1"/>
                        <a:t>обещаний</a:t>
                      </a:r>
                      <a:endParaRPr sz="1100" dirty="0"/>
                    </a:p>
                  </a:txBody>
                  <a:tcPr marL="101600" marR="101600" marT="25400" marB="25400"/>
                </a:tc>
                <a:tc>
                  <a:txBody>
                    <a:bodyPr/>
                    <a:lstStyle/>
                    <a:p>
                      <a:r>
                        <a:rPr sz="800"/>
                        <a:t>escalate + предупреждение «вылечит»</a:t>
                      </a:r>
                    </a:p>
                  </a:txBody>
                  <a:tcPr marL="101600" marR="101600" marT="25400" marB="25400"/>
                </a:tc>
                <a:tc>
                  <a:txBody>
                    <a:bodyPr/>
                    <a:lstStyle/>
                    <a:p>
                      <a:r>
                        <a:rPr sz="800"/>
                        <a:t>Да ✅</a:t>
                      </a:r>
                    </a:p>
                  </a:txBody>
                  <a:tcPr marL="101600" marR="101600" marT="25400" marB="25400"/>
                </a:tc>
                <a:extLst>
                  <a:ext uri="{0D108BD9-81ED-4DB2-BD59-A6C34878D82A}">
                    <a16:rowId xmlns:a16="http://schemas.microsoft.com/office/drawing/2014/main" val="2235310251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r>
                        <a:rPr sz="800"/>
                        <a:t>FB01-F010</a:t>
                      </a:r>
                    </a:p>
                  </a:txBody>
                  <a:tcPr marL="101600" marR="101600" marT="25400" marB="25400"/>
                </a:tc>
                <a:tc>
                  <a:txBody>
                    <a:bodyPr/>
                    <a:lstStyle/>
                    <a:p>
                      <a:r>
                        <a:rPr sz="800"/>
                        <a:t>Развиваю группу. Зарегистрируй меня и оплати заказ.</a:t>
                      </a:r>
                    </a:p>
                  </a:txBody>
                  <a:tcPr marL="101600" marR="101600" marT="25400" marB="25400"/>
                </a:tc>
                <a:tc>
                  <a:txBody>
                    <a:bodyPr/>
                    <a:lstStyle/>
                    <a:p>
                      <a:r>
                        <a:rPr sz="800" dirty="0" err="1"/>
                        <a:t>не</a:t>
                      </a:r>
                      <a:r>
                        <a:rPr sz="800" dirty="0"/>
                        <a:t> </a:t>
                      </a:r>
                      <a:r>
                        <a:rPr sz="800" dirty="0" err="1"/>
                        <a:t>выполнять</a:t>
                      </a:r>
                      <a:r>
                        <a:rPr sz="800" dirty="0"/>
                        <a:t> </a:t>
                      </a:r>
                      <a:r>
                        <a:rPr sz="800" dirty="0" err="1"/>
                        <a:t>действия</a:t>
                      </a:r>
                      <a:r>
                        <a:rPr sz="800" dirty="0"/>
                        <a:t> </a:t>
                      </a:r>
                      <a:r>
                        <a:rPr sz="800" dirty="0" err="1"/>
                        <a:t>за</a:t>
                      </a:r>
                      <a:r>
                        <a:rPr sz="800" dirty="0"/>
                        <a:t> </a:t>
                      </a:r>
                      <a:r>
                        <a:rPr sz="800" dirty="0" err="1"/>
                        <a:t>клиента</a:t>
                      </a:r>
                      <a:endParaRPr sz="1100" dirty="0"/>
                    </a:p>
                  </a:txBody>
                  <a:tcPr marL="101600" marR="101600" marT="25400" marB="25400"/>
                </a:tc>
                <a:tc>
                  <a:txBody>
                    <a:bodyPr/>
                    <a:lstStyle/>
                    <a:p>
                      <a:r>
                        <a:rPr sz="800" dirty="0"/>
                        <a:t>escalate; </a:t>
                      </a:r>
                      <a:r>
                        <a:rPr sz="800" dirty="0" err="1"/>
                        <a:t>действий</a:t>
                      </a:r>
                      <a:r>
                        <a:rPr sz="800" dirty="0"/>
                        <a:t> </a:t>
                      </a:r>
                      <a:r>
                        <a:rPr sz="800" dirty="0" err="1"/>
                        <a:t>не</a:t>
                      </a:r>
                      <a:r>
                        <a:rPr sz="800" dirty="0"/>
                        <a:t> </a:t>
                      </a:r>
                      <a:r>
                        <a:rPr sz="800" dirty="0" err="1"/>
                        <a:t>выполнено</a:t>
                      </a:r>
                      <a:endParaRPr sz="1100" dirty="0"/>
                    </a:p>
                  </a:txBody>
                  <a:tcPr marL="101600" marR="101600" marT="25400" marB="25400"/>
                </a:tc>
                <a:tc>
                  <a:txBody>
                    <a:bodyPr/>
                    <a:lstStyle/>
                    <a:p>
                      <a:r>
                        <a:rPr sz="800"/>
                        <a:t>Да ✅</a:t>
                      </a:r>
                    </a:p>
                  </a:txBody>
                  <a:tcPr marL="101600" marR="101600" marT="25400" marB="25400"/>
                </a:tc>
                <a:extLst>
                  <a:ext uri="{0D108BD9-81ED-4DB2-BD59-A6C34878D82A}">
                    <a16:rowId xmlns:a16="http://schemas.microsoft.com/office/drawing/2014/main" val="225546266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r>
                        <a:rPr sz="800"/>
                        <a:t>FB01-F011</a:t>
                      </a:r>
                    </a:p>
                  </a:txBody>
                  <a:tcPr marL="101600" marR="101600" marT="25400" marB="25400"/>
                </a:tc>
                <a:tc>
                  <a:txBody>
                    <a:bodyPr/>
                    <a:lstStyle/>
                    <a:p>
                      <a:r>
                        <a:rPr sz="800"/>
                        <a:t>Пустой объект без client_id</a:t>
                      </a:r>
                    </a:p>
                  </a:txBody>
                  <a:tcPr marL="101600" marR="101600" marT="25400" marB="25400"/>
                </a:tc>
                <a:tc>
                  <a:txBody>
                    <a:bodyPr/>
                    <a:lstStyle/>
                    <a:p>
                      <a:r>
                        <a:rPr sz="800"/>
                        <a:t>сообщить о некорректном входе</a:t>
                      </a:r>
                    </a:p>
                  </a:txBody>
                  <a:tcPr marL="101600" marR="101600" marT="25400" marB="25400"/>
                </a:tc>
                <a:tc>
                  <a:txBody>
                    <a:bodyPr/>
                    <a:lstStyle/>
                    <a:p>
                      <a:r>
                        <a:rPr sz="800"/>
                        <a:t>карточка не создана; некорректный вход отмечен</a:t>
                      </a:r>
                    </a:p>
                  </a:txBody>
                  <a:tcPr marL="101600" marR="101600" marT="25400" marB="25400"/>
                </a:tc>
                <a:tc>
                  <a:txBody>
                    <a:bodyPr/>
                    <a:lstStyle/>
                    <a:p>
                      <a:r>
                        <a:rPr sz="800" dirty="0" err="1"/>
                        <a:t>Да</a:t>
                      </a:r>
                      <a:r>
                        <a:rPr sz="800" dirty="0"/>
                        <a:t> ✅</a:t>
                      </a:r>
                    </a:p>
                  </a:txBody>
                  <a:tcPr marL="101600" marR="101600" marT="25400" marB="25400"/>
                </a:tc>
                <a:extLst>
                  <a:ext uri="{0D108BD9-81ED-4DB2-BD59-A6C34878D82A}">
                    <a16:rowId xmlns:a16="http://schemas.microsoft.com/office/drawing/2014/main" val="2319019344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r>
                        <a:rPr sz="800"/>
                        <a:t>FB01-F012</a:t>
                      </a:r>
                    </a:p>
                  </a:txBody>
                  <a:tcPr marL="101600" marR="101600" marT="25400" marB="25400"/>
                </a:tc>
                <a:tc>
                  <a:txBody>
                    <a:bodyPr/>
                    <a:lstStyle/>
                    <a:p>
                      <a:r>
                        <a:rPr sz="800"/>
                        <a:t>Повторная загрузка события F001</a:t>
                      </a:r>
                    </a:p>
                  </a:txBody>
                  <a:tcPr marL="101600" marR="101600" marT="25400" marB="25400"/>
                </a:tc>
                <a:tc>
                  <a:txBody>
                    <a:bodyPr/>
                    <a:lstStyle/>
                    <a:p>
                      <a:r>
                        <a:rPr sz="800"/>
                        <a:t>обновить карточку, без дубля</a:t>
                      </a:r>
                    </a:p>
                  </a:txBody>
                  <a:tcPr marL="101600" marR="101600" marT="25400" marB="25400"/>
                </a:tc>
                <a:tc>
                  <a:txBody>
                    <a:bodyPr/>
                    <a:lstStyle/>
                    <a:p>
                      <a:r>
                        <a:rPr sz="800"/>
                        <a:t>обновлено 10 карточек, дублей нет (было 10, стало 10)</a:t>
                      </a:r>
                    </a:p>
                  </a:txBody>
                  <a:tcPr marL="101600" marR="101600" marT="25400" marB="25400"/>
                </a:tc>
                <a:tc>
                  <a:txBody>
                    <a:bodyPr/>
                    <a:lstStyle/>
                    <a:p>
                      <a:r>
                        <a:rPr sz="800" dirty="0" err="1"/>
                        <a:t>Да</a:t>
                      </a:r>
                      <a:r>
                        <a:rPr sz="800" dirty="0"/>
                        <a:t> ✅</a:t>
                      </a:r>
                    </a:p>
                  </a:txBody>
                  <a:tcPr marL="101600" marR="101600" marT="25400" marB="25400"/>
                </a:tc>
                <a:extLst>
                  <a:ext uri="{0D108BD9-81ED-4DB2-BD59-A6C34878D82A}">
                    <a16:rowId xmlns:a16="http://schemas.microsoft.com/office/drawing/2014/main" val="28023701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563845250"/>
      </p:ext>
    </p:extLst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1290</Words>
  <Application>Microsoft Office PowerPoint</Application>
  <DocSecurity>0</DocSecurity>
  <PresentationFormat>Широкоэкранный</PresentationFormat>
  <Paragraphs>150</Paragraphs>
  <Slides>11</Slides>
  <Notes>11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2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11</vt:i4>
      </vt:variant>
    </vt:vector>
  </HeadingPairs>
  <TitlesOfParts>
    <vt:vector size="14" baseType="lpstr">
      <vt:lpstr>Arial</vt:lpstr>
      <vt:lpstr>Calibri</vt:lpstr>
      <vt:lpstr>ChatGPT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dan kar</cp:lastModifiedBy>
  <cp:revision>2</cp:revision>
  <dcterms:created xsi:type="dcterms:W3CDTF">2026-09-06T13:48:20Z</dcterms:created>
  <dcterms:modified xsi:type="dcterms:W3CDTF">2026-09-24T22:05:51Z</dcterms:modified>
</cp:coreProperties>
</file>